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Public Sans" pitchFamily="34" charset="0"/>
      <p:regular r:id="rId17"/>
      <p:bold r:id="rId18"/>
    </p:embeddedFont>
    <p:embeddedFont>
      <p:font typeface="Rubik"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Gino. Good morning, everyone. We are Gino, Diana and Said. Our project is called Maternal Health Risk Triage. It is an artificial intelligence tool that helps health workers decide which pregnant women need care first. It only supports the decision. It does not replace a doctor. I will present the problem, the data and the fuzzy logic part. Then Diana will explain the models and the genetic algorithm. Finally, Said will show the final model, the app and 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Gino. Many problems in pregnancy, like high blood pressure or high blood sugar, can be treated if we find them early. But in rural health centers there are few specialists. Nurses usually have only basic vital signs. Our system takes six vital signs: age, systolic and diastolic blood pressure, blood sugar, body temperature and heart rate. It gives one risk level: low, mid or high. Our research question is: can machine learning, a genetic algorithm and uncertainty analysis classify maternal risk from these basic signs? The users are nurses and community health workers. The tool only supports them. The professional always makes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Gino. We used a public dataset from the UCI repository. It has 1,014 records. We removed 2 records because the heart rate was 7 beats per minute. That is impossible for a living person, so it is a sensor error. Now we have 1,012 records. There are no missing values. We found 561 repeated profiles, but we kept them, because the sensors round the values and they are different women. The classes are not balanced: 40 percent low, 33 percent mid and 27 percent high. That is why we use F1-macro and not only accuracy. To avoid data leakage, we split the data first: 809 for training and 203 for the final test. The scaling is inside a Pipeline, and the test set is used only one time,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Gino. This is the third axis of Computational Intelligence: handling uncertainty. In real life, risk does not jump suddenly. A blood pressure of 139 is almost the same as 141. With fuzzy logic, a value can belong partly to two groups. In the chart, 7.5 millimoles of blood sugar is a little Normal and a little Moderate at the same time. We built a Mamdani fuzzy system with scikit-fuzzy. It has 3 inputs: systolic blood pressure, blood sugar and heart rate, and 5 rules written like a doctor would say them. For example: if the pressure is high or the sugar is high, the risk is high. The output is a score from 0 to 10. For example, a woman with pressure 145 and sugar 12 gets 8.56, which is high risk. Now Diana will explain the machine learning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Diana. Thank you, Gino. This is the first axis: machine learning and neural networks. We trained four models: KNN, SVM, Random Forest and a neural network called MLP. We also used a Dummy model as a baseline. All models used the same data, the same Pipeline and the same 5 folds, so the comparison is fair. KNN looks at the most similar patients. SVM draws the widest border between the classes. The MLP has layers of neurons that learn from their errors with backpropagation. Random Forest uses many decision trees that vote. The metric is F1-macro. Random Forest was the best, with 0.83. The neural network was second, with 0.72. The baseline only got 0.19, so all models really learned something. We think trees win because risk follows clinical limits, like blood sugar over 7.8, and trees split the data exactly like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Diana. This is the second axis: optimization with a bio-inspired algorithm. We used a genetic algorithm to find good settings for the Random Forest. It works like natural evolution. Step 1: we create a population of 12 random settings. Each setting is a chromosome with 6 genes, like the number of trees or the maximum depth. Step 2: the fitness is the F1 score in 5-fold cross-validation. Step 3: selection. Three settings compete and the best one becomes a parent. Step 4: crossover. Two parents mix their genes. Step 5: mutation. Sometimes a gene changes at random. This helps to explore new areas and avoid local optimums. We repeat this for 12 generations, and the best 2 always survive. There are 6,720 possible combinations, but the genetic algorithm tried only 97. To be fair, we compared it with Random Search using the same 97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Diana. These are the results. During the search, the genetic algorithm found an F1 of 0.838 and random search found 0.842. The initial Random Forest had 0.832. So it looks like a small improvement. But the best result of a search is always a little optimistic, because we chose it on the same data. So we checked the settings again on 15 new data splits. Now all of them are between 0.82 and 0.83. The differences are about 0.01, and the normal variation is about 0.02. So it is a technical tie. The small gain was selection bias. Our decision: we kept the simpler model with 150 trees. It has the same F1, the best recall for high risk, and it is faster. Our hypothesis said the optimization would match or improve the F1. It matched, but it did not improve it. Now Said will present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Said. Thank you, Diana. We chose Random Forest as the final model. It had the best F1, it was stable, it is fast, and it shows which variables are important. We trained it again with all 809 training records, and then we tested it only one time with the 203 test records. The most important result is the recall for high risk: 0.96. This means we found 53 of the 55 high-risk women, and we missed only 2. The F1-macro is 0.85, the accuracy is 0.84 and the ROC-AUC is 0.94. Most errors are between low and mid risk, which is less dangerous. Our success criteria were F1 of at least 0.75 and high-risk recall of at least 0.80, so both were met. The most important variable is blood sugar, then systolic blood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Said. This is our prototype, a web app made with Streamlit. It loads the saved model. First, the health worker enters the six vital signs. The app accepts Celsius and milligrams per deciliter, and converts them. Second, it checks the values. If the data is impossible, like a systolic pressure lower than the diastolic, it blocks the prediction. Third, the Random Forest predicts. Fourth, it shows the risk level, the confidence and the Shannon entropy, which measures uncertainty. Fifth, it shows an alert when the model is not sure: if the confidence is below 65 percent, if the entropy is 55 percent or more, or if the high-risk probability is 25 percent or more. We tested four cases: a normal case, a critical case, a borderline case that shows the alert, and an invalid case that is blocked. The app has three tabs, one for each member: live triage, the model comparison with the genetic algorithm results, and a fuzzy logic simulator. Now I will show you the live demo with a new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Said (each member can say the conclusion of their own axis). About errors: the worst error is to miss a high-risk woman. Our model missed only 2 of 55. A false alarm only means one extra check, and that is safer. About limits: the data comes from rural Bangladesh, so we need local data from Ecuador before using it for real. The data also has no weeks of pregnancy or medical history. About ethics: the tool only gives a priority. A health professional always makes the decision. Conclusions: Gino, axis C: fuzzy logic and entropy help the system show when it is not sure. Diana, axis B: the genetic algorithm worked, but a fair test showed a tie, and we report that honestly. Said, axis A: Random Forest was the best model, with F1 0.85 and 96 percent recall for high risk. Thank you.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732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7323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732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7323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44C"/>
                </a:solidFill>
                <a:latin typeface="Public Sans" pitchFamily="34" charset="0"/>
                <a:ea typeface="Public Sans" pitchFamily="34" charset="-122"/>
                <a:cs typeface="Public Sans" pitchFamily="34" charset="-120"/>
              </a:rPr>
              <a:t>COMPUTATIONAL INTELLIGENCE · FINAL PROJECT</a:t>
            </a:r>
            <a:endParaRPr lang="en-US" sz="1200" dirty="0"/>
          </a:p>
        </p:txBody>
      </p:sp>
      <p:sp>
        <p:nvSpPr>
          <p:cNvPr id="3" name="Text 1"/>
          <p:cNvSpPr/>
          <p:nvPr>
            <p:ph type="title"/>
          </p:nvPr>
        </p:nvSpPr>
        <p:spPr>
          <a:xfrm>
            <a:off x="812800" y="120392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EFE8"/>
                </a:solidFill>
                <a:latin typeface="Rubik" pitchFamily="34" charset="0"/>
                <a:ea typeface="Rubik" pitchFamily="34" charset="-122"/>
                <a:cs typeface="Rubik" pitchFamily="34" charset="-120"/>
              </a:rPr>
              <a:t>Maternal Health</a:t>
            </a:r>
            <a:endParaRPr lang="en-US" sz="5600" dirty="0"/>
          </a:p>
          <a:p>
            <a:pPr algn="l" indent="0" marL="0">
              <a:lnSpc>
                <a:spcPts val="5880"/>
              </a:lnSpc>
              <a:buNone/>
            </a:pPr>
            <a:r>
              <a:rPr lang="en-US" sz="5600" b="1" i="0" dirty="0">
                <a:solidFill>
                  <a:srgbClr val="F2EFE8"/>
                </a:solidFill>
                <a:latin typeface="Rubik" pitchFamily="34" charset="0"/>
                <a:ea typeface="Rubik" pitchFamily="34" charset="-122"/>
                <a:cs typeface="Rubik" pitchFamily="34" charset="-120"/>
              </a:rPr>
              <a:t>Risk Triage</a:t>
            </a:r>
            <a:endParaRPr lang="en-US" sz="5600" dirty="0"/>
          </a:p>
        </p:txBody>
      </p:sp>
      <p:sp>
        <p:nvSpPr>
          <p:cNvPr id="4" name="Text 2"/>
          <p:cNvSpPr/>
          <p:nvPr/>
        </p:nvSpPr>
        <p:spPr>
          <a:xfrm>
            <a:off x="812800" y="2875161"/>
            <a:ext cx="8175625"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D3"/>
                </a:solidFill>
                <a:latin typeface="Public Sans" pitchFamily="34" charset="0"/>
                <a:ea typeface="Public Sans" pitchFamily="34" charset="-122"/>
                <a:cs typeface="Public Sans" pitchFamily="34" charset="-120"/>
              </a:rPr>
              <a:t>An AI support tool for community health centers. It helps decide which pregnant women need care first. It does not replace a doctor.</a:t>
            </a:r>
            <a:endParaRPr lang="en-US" sz="1800" dirty="0"/>
          </a:p>
        </p:txBody>
      </p:sp>
      <p:sp>
        <p:nvSpPr>
          <p:cNvPr id="5" name="Shape 3"/>
          <p:cNvSpPr/>
          <p:nvPr/>
        </p:nvSpPr>
        <p:spPr>
          <a:xfrm>
            <a:off x="812800" y="3808115"/>
            <a:ext cx="3386634" cy="1730772"/>
          </a:xfrm>
          <a:prstGeom prst="roundRect">
            <a:avLst>
              <a:gd name="adj" fmla="val 5870"/>
            </a:avLst>
          </a:prstGeom>
          <a:solidFill>
            <a:srgbClr val="1F4049"/>
          </a:solidFill>
          <a:ln/>
        </p:spPr>
      </p:sp>
      <p:sp>
        <p:nvSpPr>
          <p:cNvPr id="6" name="Text 4"/>
          <p:cNvSpPr/>
          <p:nvPr/>
        </p:nvSpPr>
        <p:spPr>
          <a:xfrm>
            <a:off x="1041400" y="4036715"/>
            <a:ext cx="30173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B44C"/>
                </a:solidFill>
                <a:latin typeface="Public Sans" pitchFamily="34" charset="0"/>
                <a:ea typeface="Public Sans" pitchFamily="34" charset="-122"/>
                <a:cs typeface="Public Sans" pitchFamily="34" charset="-120"/>
              </a:rPr>
              <a:t>Member 1</a:t>
            </a:r>
            <a:endParaRPr lang="en-US" sz="1200" dirty="0"/>
          </a:p>
        </p:txBody>
      </p:sp>
      <p:sp>
        <p:nvSpPr>
          <p:cNvPr id="7" name="Text 5"/>
          <p:cNvSpPr/>
          <p:nvPr/>
        </p:nvSpPr>
        <p:spPr>
          <a:xfrm>
            <a:off x="1041400" y="4313535"/>
            <a:ext cx="3017317"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EFE8"/>
                </a:solidFill>
                <a:latin typeface="Rubik" pitchFamily="34" charset="0"/>
                <a:ea typeface="Rubik" pitchFamily="34" charset="-122"/>
                <a:cs typeface="Rubik" pitchFamily="34" charset="-120"/>
              </a:rPr>
              <a:t>Gino Maximiliano Bermúdez Santos</a:t>
            </a:r>
            <a:endParaRPr lang="en-US" sz="1600" dirty="0"/>
          </a:p>
        </p:txBody>
      </p:sp>
      <p:sp>
        <p:nvSpPr>
          <p:cNvPr id="8" name="Text 6"/>
          <p:cNvSpPr/>
          <p:nvPr/>
        </p:nvSpPr>
        <p:spPr>
          <a:xfrm>
            <a:off x="1041400" y="4864596"/>
            <a:ext cx="301731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6D3"/>
                </a:solidFill>
                <a:latin typeface="Public Sans" pitchFamily="34" charset="0"/>
                <a:ea typeface="Public Sans" pitchFamily="34" charset="-122"/>
                <a:cs typeface="Public Sans" pitchFamily="34" charset="-120"/>
              </a:rPr>
              <a:t>Data, base models and fuzzy logic</a:t>
            </a:r>
            <a:endParaRPr lang="en-US" sz="1300" dirty="0"/>
          </a:p>
        </p:txBody>
      </p:sp>
      <p:sp>
        <p:nvSpPr>
          <p:cNvPr id="9" name="Shape 7"/>
          <p:cNvSpPr/>
          <p:nvPr/>
        </p:nvSpPr>
        <p:spPr>
          <a:xfrm>
            <a:off x="4402634" y="3808115"/>
            <a:ext cx="3386733" cy="1730772"/>
          </a:xfrm>
          <a:prstGeom prst="roundRect">
            <a:avLst>
              <a:gd name="adj" fmla="val 5870"/>
            </a:avLst>
          </a:prstGeom>
          <a:solidFill>
            <a:srgbClr val="1F4049"/>
          </a:solidFill>
          <a:ln/>
        </p:spPr>
      </p:sp>
      <p:sp>
        <p:nvSpPr>
          <p:cNvPr id="10" name="Text 8"/>
          <p:cNvSpPr/>
          <p:nvPr/>
        </p:nvSpPr>
        <p:spPr>
          <a:xfrm>
            <a:off x="4631234" y="4036715"/>
            <a:ext cx="30174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B44C"/>
                </a:solidFill>
                <a:latin typeface="Public Sans" pitchFamily="34" charset="0"/>
                <a:ea typeface="Public Sans" pitchFamily="34" charset="-122"/>
                <a:cs typeface="Public Sans" pitchFamily="34" charset="-120"/>
              </a:rPr>
              <a:t>Member 2</a:t>
            </a:r>
            <a:endParaRPr lang="en-US" sz="1200" dirty="0"/>
          </a:p>
        </p:txBody>
      </p:sp>
      <p:sp>
        <p:nvSpPr>
          <p:cNvPr id="11" name="Text 9"/>
          <p:cNvSpPr/>
          <p:nvPr/>
        </p:nvSpPr>
        <p:spPr>
          <a:xfrm>
            <a:off x="4631234" y="4313535"/>
            <a:ext cx="3017419"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EFE8"/>
                </a:solidFill>
                <a:latin typeface="Rubik" pitchFamily="34" charset="0"/>
                <a:ea typeface="Rubik" pitchFamily="34" charset="-122"/>
                <a:cs typeface="Rubik" pitchFamily="34" charset="-120"/>
              </a:rPr>
              <a:t>Diana Lucia Melena Santander</a:t>
            </a:r>
            <a:endParaRPr lang="en-US" sz="1600" dirty="0"/>
          </a:p>
        </p:txBody>
      </p:sp>
      <p:sp>
        <p:nvSpPr>
          <p:cNvPr id="12" name="Text 10"/>
          <p:cNvSpPr/>
          <p:nvPr/>
        </p:nvSpPr>
        <p:spPr>
          <a:xfrm>
            <a:off x="4631234" y="4864596"/>
            <a:ext cx="30174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6D3"/>
                </a:solidFill>
                <a:latin typeface="Public Sans" pitchFamily="34" charset="0"/>
                <a:ea typeface="Public Sans" pitchFamily="34" charset="-122"/>
                <a:cs typeface="Public Sans" pitchFamily="34" charset="-120"/>
              </a:rPr>
              <a:t>SVM, neural network and genetic algorithm</a:t>
            </a:r>
            <a:endParaRPr lang="en-US" sz="1300" dirty="0"/>
          </a:p>
        </p:txBody>
      </p:sp>
      <p:sp>
        <p:nvSpPr>
          <p:cNvPr id="13" name="Shape 11"/>
          <p:cNvSpPr/>
          <p:nvPr/>
        </p:nvSpPr>
        <p:spPr>
          <a:xfrm>
            <a:off x="7992566" y="3808115"/>
            <a:ext cx="3386634" cy="1730772"/>
          </a:xfrm>
          <a:prstGeom prst="roundRect">
            <a:avLst>
              <a:gd name="adj" fmla="val 5870"/>
            </a:avLst>
          </a:prstGeom>
          <a:solidFill>
            <a:srgbClr val="1F4049"/>
          </a:solidFill>
          <a:ln/>
        </p:spPr>
      </p:sp>
      <p:sp>
        <p:nvSpPr>
          <p:cNvPr id="14" name="Text 12"/>
          <p:cNvSpPr/>
          <p:nvPr/>
        </p:nvSpPr>
        <p:spPr>
          <a:xfrm>
            <a:off x="8221166" y="4036715"/>
            <a:ext cx="30173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B44C"/>
                </a:solidFill>
                <a:latin typeface="Public Sans" pitchFamily="34" charset="0"/>
                <a:ea typeface="Public Sans" pitchFamily="34" charset="-122"/>
                <a:cs typeface="Public Sans" pitchFamily="34" charset="-120"/>
              </a:rPr>
              <a:t>Member 3</a:t>
            </a:r>
            <a:endParaRPr lang="en-US" sz="1200" dirty="0"/>
          </a:p>
        </p:txBody>
      </p:sp>
      <p:sp>
        <p:nvSpPr>
          <p:cNvPr id="15" name="Text 13"/>
          <p:cNvSpPr/>
          <p:nvPr/>
        </p:nvSpPr>
        <p:spPr>
          <a:xfrm>
            <a:off x="8221166" y="4313535"/>
            <a:ext cx="30173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EFE8"/>
                </a:solidFill>
                <a:latin typeface="Rubik" pitchFamily="34" charset="0"/>
                <a:ea typeface="Rubik" pitchFamily="34" charset="-122"/>
                <a:cs typeface="Rubik" pitchFamily="34" charset="-120"/>
              </a:rPr>
              <a:t>Said Fausto Pinto Tamayo</a:t>
            </a:r>
            <a:endParaRPr lang="en-US" sz="1600" dirty="0"/>
          </a:p>
        </p:txBody>
      </p:sp>
      <p:sp>
        <p:nvSpPr>
          <p:cNvPr id="16" name="Text 14"/>
          <p:cNvSpPr/>
          <p:nvPr/>
        </p:nvSpPr>
        <p:spPr>
          <a:xfrm>
            <a:off x="8221166" y="4620816"/>
            <a:ext cx="301731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6D3"/>
                </a:solidFill>
                <a:latin typeface="Public Sans" pitchFamily="34" charset="0"/>
                <a:ea typeface="Public Sans" pitchFamily="34" charset="-122"/>
                <a:cs typeface="Public Sans" pitchFamily="34" charset="-120"/>
              </a:rPr>
              <a:t>Final model, prototype and ethics</a:t>
            </a:r>
            <a:endParaRPr lang="en-US" sz="1300" dirty="0"/>
          </a:p>
        </p:txBody>
      </p:sp>
      <p:sp>
        <p:nvSpPr>
          <p:cNvPr id="17" name="Text 1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UPSE · Software Engineering 7/1 · Ing. Daniel Quirumbay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1 · GINO · PHASE I</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The problem: who needs care first?</a:t>
            </a:r>
            <a:endParaRPr lang="en-US" sz="3200" dirty="0"/>
          </a:p>
        </p:txBody>
      </p:sp>
      <p:sp>
        <p:nvSpPr>
          <p:cNvPr id="4" name="Text 2"/>
          <p:cNvSpPr/>
          <p:nvPr/>
        </p:nvSpPr>
        <p:spPr>
          <a:xfrm>
            <a:off x="815975" y="1806476"/>
            <a:ext cx="1835150" cy="491430"/>
          </a:xfrm>
          <a:prstGeom prst="roundRect">
            <a:avLst>
              <a:gd name="adj" fmla="val 14860"/>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820"/>
              </a:lnSpc>
              <a:buNone/>
            </a:pPr>
            <a:r>
              <a:rPr lang="en-US" sz="1300" dirty="0">
                <a:solidFill>
                  <a:srgbClr val="17323A"/>
                </a:solidFill>
                <a:latin typeface="Public Sans" pitchFamily="34" charset="0"/>
                <a:ea typeface="Public Sans" pitchFamily="34" charset="-122"/>
                <a:cs typeface="Public Sans" pitchFamily="34" charset="-120"/>
              </a:rPr>
              <a:t>Age</a:t>
            </a:r>
            <a:endParaRPr lang="en-US" sz="1300" dirty="0"/>
          </a:p>
        </p:txBody>
      </p:sp>
      <p:sp>
        <p:nvSpPr>
          <p:cNvPr id="5" name="Text 3"/>
          <p:cNvSpPr/>
          <p:nvPr/>
        </p:nvSpPr>
        <p:spPr>
          <a:xfrm>
            <a:off x="2759075" y="1806476"/>
            <a:ext cx="1835150" cy="491430"/>
          </a:xfrm>
          <a:prstGeom prst="roundRect">
            <a:avLst>
              <a:gd name="adj" fmla="val 14860"/>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820"/>
              </a:lnSpc>
              <a:buNone/>
            </a:pPr>
            <a:r>
              <a:rPr lang="en-US" sz="1300" dirty="0">
                <a:solidFill>
                  <a:srgbClr val="17323A"/>
                </a:solidFill>
                <a:latin typeface="Public Sans" pitchFamily="34" charset="0"/>
                <a:ea typeface="Public Sans" pitchFamily="34" charset="-122"/>
                <a:cs typeface="Public Sans" pitchFamily="34" charset="-120"/>
              </a:rPr>
              <a:t>Blood sugar</a:t>
            </a:r>
            <a:endParaRPr lang="en-US" sz="1300" dirty="0"/>
          </a:p>
        </p:txBody>
      </p:sp>
      <p:sp>
        <p:nvSpPr>
          <p:cNvPr id="6" name="Text 4"/>
          <p:cNvSpPr/>
          <p:nvPr/>
        </p:nvSpPr>
        <p:spPr>
          <a:xfrm>
            <a:off x="815975" y="2405856"/>
            <a:ext cx="1835150" cy="491430"/>
          </a:xfrm>
          <a:prstGeom prst="roundRect">
            <a:avLst>
              <a:gd name="adj" fmla="val 14860"/>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820"/>
              </a:lnSpc>
              <a:buNone/>
            </a:pPr>
            <a:r>
              <a:rPr lang="en-US" sz="1300" dirty="0">
                <a:solidFill>
                  <a:srgbClr val="17323A"/>
                </a:solidFill>
                <a:latin typeface="Public Sans" pitchFamily="34" charset="0"/>
                <a:ea typeface="Public Sans" pitchFamily="34" charset="-122"/>
                <a:cs typeface="Public Sans" pitchFamily="34" charset="-120"/>
              </a:rPr>
              <a:t>Systolic BP</a:t>
            </a:r>
            <a:endParaRPr lang="en-US" sz="1300" dirty="0"/>
          </a:p>
        </p:txBody>
      </p:sp>
      <p:sp>
        <p:nvSpPr>
          <p:cNvPr id="7" name="Text 5"/>
          <p:cNvSpPr/>
          <p:nvPr/>
        </p:nvSpPr>
        <p:spPr>
          <a:xfrm>
            <a:off x="2759075" y="2405856"/>
            <a:ext cx="1835150" cy="491430"/>
          </a:xfrm>
          <a:prstGeom prst="roundRect">
            <a:avLst>
              <a:gd name="adj" fmla="val 14860"/>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820"/>
              </a:lnSpc>
              <a:buNone/>
            </a:pPr>
            <a:r>
              <a:rPr lang="en-US" sz="1300" dirty="0">
                <a:solidFill>
                  <a:srgbClr val="17323A"/>
                </a:solidFill>
                <a:latin typeface="Public Sans" pitchFamily="34" charset="0"/>
                <a:ea typeface="Public Sans" pitchFamily="34" charset="-122"/>
                <a:cs typeface="Public Sans" pitchFamily="34" charset="-120"/>
              </a:rPr>
              <a:t>Temperature</a:t>
            </a:r>
            <a:endParaRPr lang="en-US" sz="1300" dirty="0"/>
          </a:p>
        </p:txBody>
      </p:sp>
      <p:sp>
        <p:nvSpPr>
          <p:cNvPr id="8" name="Text 6"/>
          <p:cNvSpPr/>
          <p:nvPr/>
        </p:nvSpPr>
        <p:spPr>
          <a:xfrm>
            <a:off x="815975" y="3005237"/>
            <a:ext cx="1835150" cy="491430"/>
          </a:xfrm>
          <a:prstGeom prst="roundRect">
            <a:avLst>
              <a:gd name="adj" fmla="val 14860"/>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820"/>
              </a:lnSpc>
              <a:buNone/>
            </a:pPr>
            <a:r>
              <a:rPr lang="en-US" sz="1300" dirty="0">
                <a:solidFill>
                  <a:srgbClr val="17323A"/>
                </a:solidFill>
                <a:latin typeface="Public Sans" pitchFamily="34" charset="0"/>
                <a:ea typeface="Public Sans" pitchFamily="34" charset="-122"/>
                <a:cs typeface="Public Sans" pitchFamily="34" charset="-120"/>
              </a:rPr>
              <a:t>Diastolic BP</a:t>
            </a:r>
            <a:endParaRPr lang="en-US" sz="1300" dirty="0"/>
          </a:p>
        </p:txBody>
      </p:sp>
      <p:sp>
        <p:nvSpPr>
          <p:cNvPr id="9" name="Text 7"/>
          <p:cNvSpPr/>
          <p:nvPr/>
        </p:nvSpPr>
        <p:spPr>
          <a:xfrm>
            <a:off x="2759075" y="3005237"/>
            <a:ext cx="1835150" cy="491430"/>
          </a:xfrm>
          <a:prstGeom prst="roundRect">
            <a:avLst>
              <a:gd name="adj" fmla="val 14860"/>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820"/>
              </a:lnSpc>
              <a:buNone/>
            </a:pPr>
            <a:r>
              <a:rPr lang="en-US" sz="1300" dirty="0">
                <a:solidFill>
                  <a:srgbClr val="17323A"/>
                </a:solidFill>
                <a:latin typeface="Public Sans" pitchFamily="34" charset="0"/>
                <a:ea typeface="Public Sans" pitchFamily="34" charset="-122"/>
                <a:cs typeface="Public Sans" pitchFamily="34" charset="-120"/>
              </a:rPr>
              <a:t>Heart rate</a:t>
            </a:r>
            <a:endParaRPr lang="en-US" sz="1300" dirty="0"/>
          </a:p>
        </p:txBody>
      </p:sp>
      <p:pic>
        <p:nvPicPr>
          <p:cNvPr id="10" name="Image 0" descr="arrow-right">    </p:cNvPr>
          <p:cNvPicPr>
            <a:picLocks noChangeAspect="1"/>
          </p:cNvPicPr>
          <p:nvPr/>
        </p:nvPicPr>
        <p:blipFill>
          <a:blip r:embed="rId1"/>
          <a:srcRect l="0" r="0" t="0" b="0"/>
          <a:stretch/>
        </p:blipFill>
        <p:spPr>
          <a:xfrm>
            <a:off x="4800600" y="2549922"/>
            <a:ext cx="406400" cy="203200"/>
          </a:xfrm>
          <a:prstGeom prst="rect">
            <a:avLst/>
          </a:prstGeom>
        </p:spPr>
      </p:pic>
      <p:sp>
        <p:nvSpPr>
          <p:cNvPr id="11" name="Shape 8"/>
          <p:cNvSpPr/>
          <p:nvPr/>
        </p:nvSpPr>
        <p:spPr>
          <a:xfrm>
            <a:off x="5410200" y="2062956"/>
            <a:ext cx="2286000" cy="1177131"/>
          </a:xfrm>
          <a:prstGeom prst="roundRect">
            <a:avLst>
              <a:gd name="adj" fmla="val 8631"/>
            </a:avLst>
          </a:prstGeom>
          <a:solidFill>
            <a:srgbClr val="17323A"/>
          </a:solidFill>
          <a:ln/>
        </p:spPr>
      </p:sp>
      <p:sp>
        <p:nvSpPr>
          <p:cNvPr id="12" name="Text 9"/>
          <p:cNvSpPr/>
          <p:nvPr/>
        </p:nvSpPr>
        <p:spPr>
          <a:xfrm>
            <a:off x="5613400" y="2266156"/>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EFE8"/>
                </a:solidFill>
                <a:latin typeface="Rubik" pitchFamily="34" charset="0"/>
                <a:ea typeface="Rubik" pitchFamily="34" charset="-122"/>
                <a:cs typeface="Rubik" pitchFamily="34" charset="-120"/>
              </a:rPr>
              <a:t>AI model</a:t>
            </a:r>
            <a:endParaRPr lang="en-US" sz="1800" dirty="0"/>
          </a:p>
        </p:txBody>
      </p:sp>
      <p:sp>
        <p:nvSpPr>
          <p:cNvPr id="13" name="Text 10"/>
          <p:cNvSpPr/>
          <p:nvPr/>
        </p:nvSpPr>
        <p:spPr>
          <a:xfrm>
            <a:off x="5613400" y="2591197"/>
            <a:ext cx="193598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6D3"/>
                </a:solidFill>
                <a:latin typeface="Public Sans" pitchFamily="34" charset="0"/>
                <a:ea typeface="Public Sans" pitchFamily="34" charset="-122"/>
                <a:cs typeface="Public Sans" pitchFamily="34" charset="-120"/>
              </a:rPr>
              <a:t>6 vital signs in, one risk level out</a:t>
            </a:r>
            <a:endParaRPr lang="en-US" sz="1300" dirty="0"/>
          </a:p>
        </p:txBody>
      </p:sp>
      <p:pic>
        <p:nvPicPr>
          <p:cNvPr id="14" name="Image 1" descr="arrow-right">    </p:cNvPr>
          <p:cNvPicPr>
            <a:picLocks noChangeAspect="1"/>
          </p:cNvPicPr>
          <p:nvPr/>
        </p:nvPicPr>
        <p:blipFill>
          <a:blip r:embed="rId2"/>
          <a:srcRect l="0" r="0" t="0" b="0"/>
          <a:stretch/>
        </p:blipFill>
        <p:spPr>
          <a:xfrm>
            <a:off x="7899400" y="2549922"/>
            <a:ext cx="406400" cy="203200"/>
          </a:xfrm>
          <a:prstGeom prst="rect">
            <a:avLst/>
          </a:prstGeom>
        </p:spPr>
      </p:pic>
      <p:sp>
        <p:nvSpPr>
          <p:cNvPr id="15" name="Text 11"/>
          <p:cNvSpPr/>
          <p:nvPr/>
        </p:nvSpPr>
        <p:spPr>
          <a:xfrm>
            <a:off x="8509000" y="1898551"/>
            <a:ext cx="2870200" cy="434280"/>
          </a:xfrm>
          <a:prstGeom prst="roundRect">
            <a:avLst>
              <a:gd name="adj" fmla="val 17546"/>
            </a:avLst>
          </a:prstGeom>
          <a:solidFill>
            <a:srgbClr val="3D7EAA"/>
          </a:solidFill>
          <a:ln/>
        </p:spPr>
        <p:txBody>
          <a:bodyPr wrap="square" lIns="130082" tIns="79282" rIns="53120" bIns="53882" rtlCol="0" anchor="t">
            <a:normAutofit/>
          </a:bodyPr>
          <a:lstStyle/>
          <a:p>
            <a:pPr algn="l" indent="0" marL="0">
              <a:lnSpc>
                <a:spcPts val="1820"/>
              </a:lnSpc>
              <a:buNone/>
            </a:pPr>
            <a:r>
              <a:rPr lang="en-US" sz="1300" b="1" dirty="0">
                <a:solidFill>
                  <a:srgbClr val="FBFAF6"/>
                </a:solidFill>
                <a:latin typeface="Public Sans" pitchFamily="34" charset="0"/>
                <a:ea typeface="Public Sans" pitchFamily="34" charset="-122"/>
                <a:cs typeface="Public Sans" pitchFamily="34" charset="-120"/>
              </a:rPr>
              <a:t>Low risk</a:t>
            </a:r>
            <a:r>
              <a:rPr lang="en-US" sz="1300" dirty="0">
                <a:solidFill>
                  <a:srgbClr val="FBFAF6"/>
                </a:solidFill>
                <a:latin typeface="Public Sans" pitchFamily="34" charset="0"/>
                <a:ea typeface="Public Sans" pitchFamily="34" charset="-122"/>
                <a:cs typeface="Public Sans" pitchFamily="34" charset="-120"/>
              </a:rPr>
              <a:t> · routine check</a:t>
            </a:r>
            <a:endParaRPr lang="en-US" sz="1300" dirty="0"/>
          </a:p>
        </p:txBody>
      </p:sp>
      <p:sp>
        <p:nvSpPr>
          <p:cNvPr id="16" name="Text 12"/>
          <p:cNvSpPr/>
          <p:nvPr/>
        </p:nvSpPr>
        <p:spPr>
          <a:xfrm>
            <a:off x="8509000" y="2434431"/>
            <a:ext cx="2870200" cy="434280"/>
          </a:xfrm>
          <a:prstGeom prst="roundRect">
            <a:avLst>
              <a:gd name="adj" fmla="val 17546"/>
            </a:avLst>
          </a:prstGeom>
          <a:solidFill>
            <a:srgbClr val="E9B44C"/>
          </a:solidFill>
          <a:ln/>
        </p:spPr>
        <p:txBody>
          <a:bodyPr wrap="square" lIns="130082" tIns="79282" rIns="53120" bIns="53882"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Mid risk</a:t>
            </a:r>
            <a:r>
              <a:rPr lang="en-US" sz="1300" dirty="0">
                <a:solidFill>
                  <a:srgbClr val="17323A"/>
                </a:solidFill>
                <a:latin typeface="Public Sans" pitchFamily="34" charset="0"/>
                <a:ea typeface="Public Sans" pitchFamily="34" charset="-122"/>
                <a:cs typeface="Public Sans" pitchFamily="34" charset="-120"/>
              </a:rPr>
              <a:t> · monitor more</a:t>
            </a:r>
            <a:endParaRPr lang="en-US" sz="1300" dirty="0"/>
          </a:p>
        </p:txBody>
      </p:sp>
      <p:sp>
        <p:nvSpPr>
          <p:cNvPr id="17" name="Text 13"/>
          <p:cNvSpPr/>
          <p:nvPr/>
        </p:nvSpPr>
        <p:spPr>
          <a:xfrm>
            <a:off x="8509000" y="2970312"/>
            <a:ext cx="2870200" cy="434280"/>
          </a:xfrm>
          <a:prstGeom prst="roundRect">
            <a:avLst>
              <a:gd name="adj" fmla="val 17546"/>
            </a:avLst>
          </a:prstGeom>
          <a:solidFill>
            <a:srgbClr val="B5462A"/>
          </a:solidFill>
          <a:ln/>
        </p:spPr>
        <p:txBody>
          <a:bodyPr wrap="square" lIns="130082" tIns="79282" rIns="53120" bIns="53882" rtlCol="0" anchor="t">
            <a:normAutofit/>
          </a:bodyPr>
          <a:lstStyle/>
          <a:p>
            <a:pPr algn="l" indent="0" marL="0">
              <a:lnSpc>
                <a:spcPts val="1820"/>
              </a:lnSpc>
              <a:buNone/>
            </a:pPr>
            <a:r>
              <a:rPr lang="en-US" sz="1300" b="1" dirty="0">
                <a:solidFill>
                  <a:srgbClr val="FBFAF6"/>
                </a:solidFill>
                <a:latin typeface="Public Sans" pitchFamily="34" charset="0"/>
                <a:ea typeface="Public Sans" pitchFamily="34" charset="-122"/>
                <a:cs typeface="Public Sans" pitchFamily="34" charset="-120"/>
              </a:rPr>
              <a:t>High risk</a:t>
            </a:r>
            <a:r>
              <a:rPr lang="en-US" sz="1300" dirty="0">
                <a:solidFill>
                  <a:srgbClr val="FBFAF6"/>
                </a:solidFill>
                <a:latin typeface="Public Sans" pitchFamily="34" charset="0"/>
                <a:ea typeface="Public Sans" pitchFamily="34" charset="-122"/>
                <a:cs typeface="Public Sans" pitchFamily="34" charset="-120"/>
              </a:rPr>
              <a:t> · refer first</a:t>
            </a:r>
            <a:endParaRPr lang="en-US" sz="1300" dirty="0"/>
          </a:p>
        </p:txBody>
      </p:sp>
      <p:sp>
        <p:nvSpPr>
          <p:cNvPr id="18" name="Shape 14"/>
          <p:cNvSpPr/>
          <p:nvPr/>
        </p:nvSpPr>
        <p:spPr>
          <a:xfrm>
            <a:off x="815975" y="3757017"/>
            <a:ext cx="5969000" cy="1437580"/>
          </a:xfrm>
          <a:prstGeom prst="roundRect">
            <a:avLst>
              <a:gd name="adj" fmla="val 6847"/>
            </a:avLst>
          </a:prstGeom>
          <a:solidFill>
            <a:srgbClr val="FFFDF9"/>
          </a:solidFill>
          <a:ln w="6350">
            <a:solidFill>
              <a:srgbClr val="DCE3E0"/>
            </a:solidFill>
            <a:prstDash val="solid"/>
          </a:ln>
        </p:spPr>
      </p:sp>
      <p:sp>
        <p:nvSpPr>
          <p:cNvPr id="19" name="Text 15"/>
          <p:cNvSpPr/>
          <p:nvPr/>
        </p:nvSpPr>
        <p:spPr>
          <a:xfrm>
            <a:off x="1022350" y="3963392"/>
            <a:ext cx="57229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Research question</a:t>
            </a:r>
            <a:endParaRPr lang="en-US" sz="1500" dirty="0"/>
          </a:p>
        </p:txBody>
      </p:sp>
      <p:sp>
        <p:nvSpPr>
          <p:cNvPr id="20" name="Text 16"/>
          <p:cNvSpPr/>
          <p:nvPr/>
        </p:nvSpPr>
        <p:spPr>
          <a:xfrm>
            <a:off x="1022350" y="4268192"/>
            <a:ext cx="572293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5157"/>
                </a:solidFill>
                <a:latin typeface="Public Sans" pitchFamily="34" charset="0"/>
                <a:ea typeface="Public Sans" pitchFamily="34" charset="-122"/>
                <a:cs typeface="Public Sans" pitchFamily="34" charset="-120"/>
              </a:rPr>
              <a:t>Can machine learning, a genetic algorithm and uncertainty analysis classify maternal risk from basic vital signs in primary care?</a:t>
            </a:r>
            <a:endParaRPr lang="en-US" sz="1400" dirty="0"/>
          </a:p>
        </p:txBody>
      </p:sp>
      <p:sp>
        <p:nvSpPr>
          <p:cNvPr id="21" name="Shape 17"/>
          <p:cNvSpPr/>
          <p:nvPr/>
        </p:nvSpPr>
        <p:spPr>
          <a:xfrm>
            <a:off x="6994525" y="3757017"/>
            <a:ext cx="4381500" cy="1437580"/>
          </a:xfrm>
          <a:prstGeom prst="roundRect">
            <a:avLst>
              <a:gd name="adj" fmla="val 6847"/>
            </a:avLst>
          </a:prstGeom>
          <a:solidFill>
            <a:srgbClr val="FFFDF9"/>
          </a:solidFill>
          <a:ln w="6350">
            <a:solidFill>
              <a:srgbClr val="DCE3E0"/>
            </a:solidFill>
            <a:prstDash val="solid"/>
          </a:ln>
        </p:spPr>
      </p:sp>
      <p:sp>
        <p:nvSpPr>
          <p:cNvPr id="22" name="Text 18"/>
          <p:cNvSpPr/>
          <p:nvPr/>
        </p:nvSpPr>
        <p:spPr>
          <a:xfrm>
            <a:off x="7200900" y="3963392"/>
            <a:ext cx="40878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Who uses it</a:t>
            </a:r>
            <a:endParaRPr lang="en-US" sz="1500" dirty="0"/>
          </a:p>
        </p:txBody>
      </p:sp>
      <p:sp>
        <p:nvSpPr>
          <p:cNvPr id="23" name="Text 19"/>
          <p:cNvSpPr/>
          <p:nvPr/>
        </p:nvSpPr>
        <p:spPr>
          <a:xfrm>
            <a:off x="7200900" y="4268192"/>
            <a:ext cx="408781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5157"/>
                </a:solidFill>
                <a:latin typeface="Public Sans" pitchFamily="34" charset="0"/>
                <a:ea typeface="Public Sans" pitchFamily="34" charset="-122"/>
                <a:cs typeface="Public Sans" pitchFamily="34" charset="-120"/>
              </a:rPr>
              <a:t>Nurses, community health workers and primary care doctors. The tool supports; the professional decides.</a:t>
            </a:r>
            <a:endParaRPr lang="en-US" sz="1400" dirty="0"/>
          </a:p>
        </p:txBody>
      </p:sp>
      <p:sp>
        <p:nvSpPr>
          <p:cNvPr id="24"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Maternal Health Risk Triage · UPSE 2026</a:t>
            </a:r>
            <a:endParaRPr lang="en-US" sz="1200" dirty="0"/>
          </a:p>
        </p:txBody>
      </p:sp>
      <p:sp>
        <p:nvSpPr>
          <p:cNvPr id="25" name="Text 21"/>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Gino · 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1 · GINO · PHASE II</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The data: 1,012 women, 6 vital signs</a:t>
            </a:r>
            <a:endParaRPr lang="en-US" sz="3200" dirty="0"/>
          </a:p>
        </p:txBody>
      </p:sp>
      <p:sp>
        <p:nvSpPr>
          <p:cNvPr id="4" name="Shape 2"/>
          <p:cNvSpPr/>
          <p:nvPr/>
        </p:nvSpPr>
        <p:spPr>
          <a:xfrm>
            <a:off x="815975" y="1806476"/>
            <a:ext cx="5435600" cy="2642691"/>
          </a:xfrm>
          <a:prstGeom prst="roundRect">
            <a:avLst>
              <a:gd name="adj" fmla="val 3724"/>
            </a:avLst>
          </a:prstGeom>
          <a:solidFill>
            <a:srgbClr val="FFFDF9"/>
          </a:solidFill>
          <a:ln w="6350">
            <a:solidFill>
              <a:srgbClr val="DCE3E0"/>
            </a:solidFill>
            <a:prstDash val="solid"/>
          </a:ln>
        </p:spPr>
      </p:sp>
      <p:sp>
        <p:nvSpPr>
          <p:cNvPr id="5" name="Text 3"/>
          <p:cNvSpPr/>
          <p:nvPr/>
        </p:nvSpPr>
        <p:spPr>
          <a:xfrm>
            <a:off x="1073150" y="2063651"/>
            <a:ext cx="50688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Risk level of each record</a:t>
            </a:r>
            <a:endParaRPr lang="en-US" sz="1500" dirty="0"/>
          </a:p>
        </p:txBody>
      </p:sp>
      <p:sp>
        <p:nvSpPr>
          <p:cNvPr id="6" name="Text 4"/>
          <p:cNvSpPr/>
          <p:nvPr/>
        </p:nvSpPr>
        <p:spPr>
          <a:xfrm>
            <a:off x="1073150" y="2468761"/>
            <a:ext cx="749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Low</a:t>
            </a:r>
            <a:endParaRPr lang="en-US" sz="1300" dirty="0"/>
          </a:p>
        </p:txBody>
      </p:sp>
      <p:sp>
        <p:nvSpPr>
          <p:cNvPr id="7" name="Shape 5"/>
          <p:cNvSpPr/>
          <p:nvPr/>
        </p:nvSpPr>
        <p:spPr>
          <a:xfrm>
            <a:off x="1873250" y="2444651"/>
            <a:ext cx="2794000" cy="279400"/>
          </a:xfrm>
          <a:prstGeom prst="roundRect">
            <a:avLst>
              <a:gd name="adj" fmla="val 18182"/>
            </a:avLst>
          </a:prstGeom>
          <a:solidFill>
            <a:srgbClr val="3D7EAA"/>
          </a:solidFill>
          <a:ln/>
        </p:spPr>
      </p:sp>
      <p:sp>
        <p:nvSpPr>
          <p:cNvPr id="8" name="Text 6"/>
          <p:cNvSpPr/>
          <p:nvPr/>
        </p:nvSpPr>
        <p:spPr>
          <a:xfrm>
            <a:off x="4768850" y="2468761"/>
            <a:ext cx="110513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404 · 39.9%</a:t>
            </a:r>
            <a:endParaRPr lang="en-US" sz="1300" dirty="0"/>
          </a:p>
        </p:txBody>
      </p:sp>
      <p:sp>
        <p:nvSpPr>
          <p:cNvPr id="9" name="Text 7"/>
          <p:cNvSpPr/>
          <p:nvPr/>
        </p:nvSpPr>
        <p:spPr>
          <a:xfrm>
            <a:off x="1073150" y="2900561"/>
            <a:ext cx="749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Mid</a:t>
            </a:r>
            <a:endParaRPr lang="en-US" sz="1300" dirty="0"/>
          </a:p>
        </p:txBody>
      </p:sp>
      <p:sp>
        <p:nvSpPr>
          <p:cNvPr id="10" name="Shape 8"/>
          <p:cNvSpPr/>
          <p:nvPr/>
        </p:nvSpPr>
        <p:spPr>
          <a:xfrm>
            <a:off x="1873250" y="2876451"/>
            <a:ext cx="2324100" cy="279400"/>
          </a:xfrm>
          <a:prstGeom prst="roundRect">
            <a:avLst>
              <a:gd name="adj" fmla="val 18182"/>
            </a:avLst>
          </a:prstGeom>
          <a:solidFill>
            <a:srgbClr val="E9B44C"/>
          </a:solidFill>
          <a:ln/>
        </p:spPr>
      </p:sp>
      <p:sp>
        <p:nvSpPr>
          <p:cNvPr id="11" name="Text 9"/>
          <p:cNvSpPr/>
          <p:nvPr/>
        </p:nvSpPr>
        <p:spPr>
          <a:xfrm>
            <a:off x="4298950" y="2900561"/>
            <a:ext cx="11049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336 · 33.2%</a:t>
            </a:r>
            <a:endParaRPr lang="en-US" sz="1300" dirty="0"/>
          </a:p>
        </p:txBody>
      </p:sp>
      <p:sp>
        <p:nvSpPr>
          <p:cNvPr id="12" name="Text 10"/>
          <p:cNvSpPr/>
          <p:nvPr/>
        </p:nvSpPr>
        <p:spPr>
          <a:xfrm>
            <a:off x="1073150" y="3332361"/>
            <a:ext cx="749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High</a:t>
            </a:r>
            <a:endParaRPr lang="en-US" sz="1300" dirty="0"/>
          </a:p>
        </p:txBody>
      </p:sp>
      <p:sp>
        <p:nvSpPr>
          <p:cNvPr id="13" name="Shape 11"/>
          <p:cNvSpPr/>
          <p:nvPr/>
        </p:nvSpPr>
        <p:spPr>
          <a:xfrm>
            <a:off x="1873250" y="3308251"/>
            <a:ext cx="1879600" cy="279400"/>
          </a:xfrm>
          <a:prstGeom prst="roundRect">
            <a:avLst>
              <a:gd name="adj" fmla="val 18182"/>
            </a:avLst>
          </a:prstGeom>
          <a:solidFill>
            <a:srgbClr val="B5462A"/>
          </a:solidFill>
          <a:ln/>
        </p:spPr>
      </p:sp>
      <p:sp>
        <p:nvSpPr>
          <p:cNvPr id="14" name="Text 12"/>
          <p:cNvSpPr/>
          <p:nvPr/>
        </p:nvSpPr>
        <p:spPr>
          <a:xfrm>
            <a:off x="3854450" y="3332361"/>
            <a:ext cx="10857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272 · 26.9%</a:t>
            </a:r>
            <a:endParaRPr lang="en-US" sz="1300" dirty="0"/>
          </a:p>
        </p:txBody>
      </p:sp>
      <p:sp>
        <p:nvSpPr>
          <p:cNvPr id="15" name="Text 13"/>
          <p:cNvSpPr/>
          <p:nvPr/>
        </p:nvSpPr>
        <p:spPr>
          <a:xfrm>
            <a:off x="1073150" y="3740051"/>
            <a:ext cx="506888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Classes are not equal, so we use F1-macro, not only accuracy.</a:t>
            </a:r>
            <a:endParaRPr lang="en-US" sz="1200" dirty="0"/>
          </a:p>
        </p:txBody>
      </p:sp>
      <p:sp>
        <p:nvSpPr>
          <p:cNvPr id="16" name="Shape 14"/>
          <p:cNvSpPr/>
          <p:nvPr/>
        </p:nvSpPr>
        <p:spPr>
          <a:xfrm>
            <a:off x="6461125" y="1806476"/>
            <a:ext cx="4914900" cy="808930"/>
          </a:xfrm>
          <a:prstGeom prst="roundRect">
            <a:avLst>
              <a:gd name="adj" fmla="val 12167"/>
            </a:avLst>
          </a:prstGeom>
          <a:solidFill>
            <a:srgbClr val="FFFDF9"/>
          </a:solidFill>
          <a:ln w="6350">
            <a:solidFill>
              <a:srgbClr val="DCE3E0"/>
            </a:solidFill>
            <a:prstDash val="solid"/>
          </a:ln>
        </p:spPr>
      </p:sp>
      <p:sp>
        <p:nvSpPr>
          <p:cNvPr id="17" name="Text 15"/>
          <p:cNvSpPr/>
          <p:nvPr/>
        </p:nvSpPr>
        <p:spPr>
          <a:xfrm>
            <a:off x="6667500" y="1962051"/>
            <a:ext cx="9398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62A"/>
                </a:solidFill>
                <a:latin typeface="Rubik" pitchFamily="34" charset="0"/>
                <a:ea typeface="Rubik" pitchFamily="34" charset="-122"/>
                <a:cs typeface="Rubik" pitchFamily="34" charset="-120"/>
              </a:rPr>
              <a:t>2</a:t>
            </a:r>
            <a:endParaRPr lang="en-US" sz="2800" dirty="0"/>
          </a:p>
        </p:txBody>
      </p:sp>
      <p:sp>
        <p:nvSpPr>
          <p:cNvPr id="18" name="Text 16"/>
          <p:cNvSpPr/>
          <p:nvPr/>
        </p:nvSpPr>
        <p:spPr>
          <a:xfrm>
            <a:off x="7734300" y="1988046"/>
            <a:ext cx="353841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Records removed:</a:t>
            </a:r>
            <a:r>
              <a:rPr lang="en-US" sz="1300" dirty="0">
                <a:solidFill>
                  <a:srgbClr val="3F5157"/>
                </a:solidFill>
                <a:latin typeface="Public Sans" pitchFamily="34" charset="0"/>
                <a:ea typeface="Public Sans" pitchFamily="34" charset="-122"/>
                <a:cs typeface="Public Sans" pitchFamily="34" charset="-120"/>
              </a:rPr>
              <a:t> heart rate = 7 bpm is a sensor error.</a:t>
            </a:r>
            <a:endParaRPr lang="en-US" sz="1300" dirty="0"/>
          </a:p>
        </p:txBody>
      </p:sp>
      <p:sp>
        <p:nvSpPr>
          <p:cNvPr id="19" name="Shape 17"/>
          <p:cNvSpPr/>
          <p:nvPr/>
        </p:nvSpPr>
        <p:spPr>
          <a:xfrm>
            <a:off x="6461125" y="2723356"/>
            <a:ext cx="4914900" cy="808930"/>
          </a:xfrm>
          <a:prstGeom prst="roundRect">
            <a:avLst>
              <a:gd name="adj" fmla="val 12167"/>
            </a:avLst>
          </a:prstGeom>
          <a:solidFill>
            <a:srgbClr val="FFFDF9"/>
          </a:solidFill>
          <a:ln w="6350">
            <a:solidFill>
              <a:srgbClr val="DCE3E0"/>
            </a:solidFill>
            <a:prstDash val="solid"/>
          </a:ln>
        </p:spPr>
      </p:sp>
      <p:sp>
        <p:nvSpPr>
          <p:cNvPr id="20" name="Text 18"/>
          <p:cNvSpPr/>
          <p:nvPr/>
        </p:nvSpPr>
        <p:spPr>
          <a:xfrm>
            <a:off x="6667500" y="2878931"/>
            <a:ext cx="9398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7A8C"/>
                </a:solidFill>
                <a:latin typeface="Rubik" pitchFamily="34" charset="0"/>
                <a:ea typeface="Rubik" pitchFamily="34" charset="-122"/>
                <a:cs typeface="Rubik" pitchFamily="34" charset="-120"/>
              </a:rPr>
              <a:t>561</a:t>
            </a:r>
            <a:endParaRPr lang="en-US" sz="2800" dirty="0"/>
          </a:p>
        </p:txBody>
      </p:sp>
      <p:sp>
        <p:nvSpPr>
          <p:cNvPr id="21" name="Text 19"/>
          <p:cNvSpPr/>
          <p:nvPr/>
        </p:nvSpPr>
        <p:spPr>
          <a:xfrm>
            <a:off x="7734300" y="2904927"/>
            <a:ext cx="353841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Repeated profiles kept:</a:t>
            </a:r>
            <a:r>
              <a:rPr lang="en-US" sz="1300" dirty="0">
                <a:solidFill>
                  <a:srgbClr val="3F5157"/>
                </a:solidFill>
                <a:latin typeface="Public Sans" pitchFamily="34" charset="0"/>
                <a:ea typeface="Public Sans" pitchFamily="34" charset="-122"/>
                <a:cs typeface="Public Sans" pitchFamily="34" charset="-120"/>
              </a:rPr>
              <a:t> sensors round values; they are different women.</a:t>
            </a:r>
            <a:endParaRPr lang="en-US" sz="1300" dirty="0"/>
          </a:p>
        </p:txBody>
      </p:sp>
      <p:sp>
        <p:nvSpPr>
          <p:cNvPr id="22" name="Shape 20"/>
          <p:cNvSpPr/>
          <p:nvPr/>
        </p:nvSpPr>
        <p:spPr>
          <a:xfrm>
            <a:off x="6461125" y="3640237"/>
            <a:ext cx="4914900" cy="808930"/>
          </a:xfrm>
          <a:prstGeom prst="roundRect">
            <a:avLst>
              <a:gd name="adj" fmla="val 12167"/>
            </a:avLst>
          </a:prstGeom>
          <a:solidFill>
            <a:srgbClr val="FFFDF9"/>
          </a:solidFill>
          <a:ln w="6350">
            <a:solidFill>
              <a:srgbClr val="DCE3E0"/>
            </a:solidFill>
            <a:prstDash val="solid"/>
          </a:ln>
        </p:spPr>
      </p:sp>
      <p:sp>
        <p:nvSpPr>
          <p:cNvPr id="23" name="Text 21"/>
          <p:cNvSpPr/>
          <p:nvPr/>
        </p:nvSpPr>
        <p:spPr>
          <a:xfrm>
            <a:off x="6667500" y="3795812"/>
            <a:ext cx="9398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7A8C"/>
                </a:solidFill>
                <a:latin typeface="Rubik" pitchFamily="34" charset="0"/>
                <a:ea typeface="Rubik" pitchFamily="34" charset="-122"/>
                <a:cs typeface="Rubik" pitchFamily="34" charset="-120"/>
              </a:rPr>
              <a:t>0</a:t>
            </a:r>
            <a:endParaRPr lang="en-US" sz="2800" dirty="0"/>
          </a:p>
        </p:txBody>
      </p:sp>
      <p:sp>
        <p:nvSpPr>
          <p:cNvPr id="24" name="Text 22"/>
          <p:cNvSpPr/>
          <p:nvPr/>
        </p:nvSpPr>
        <p:spPr>
          <a:xfrm>
            <a:off x="7734300" y="3933230"/>
            <a:ext cx="2991445"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Missing values</a:t>
            </a:r>
            <a:r>
              <a:rPr lang="en-US" sz="1300" dirty="0">
                <a:solidFill>
                  <a:srgbClr val="3F5157"/>
                </a:solidFill>
                <a:latin typeface="Public Sans" pitchFamily="34" charset="0"/>
                <a:ea typeface="Public Sans" pitchFamily="34" charset="-122"/>
                <a:cs typeface="Public Sans" pitchFamily="34" charset="-120"/>
              </a:rPr>
              <a:t> in the 7 columns.</a:t>
            </a:r>
            <a:endParaRPr lang="en-US" sz="1300" dirty="0"/>
          </a:p>
        </p:txBody>
      </p:sp>
      <p:sp>
        <p:nvSpPr>
          <p:cNvPr id="25" name="Text 23"/>
          <p:cNvSpPr/>
          <p:nvPr/>
        </p:nvSpPr>
        <p:spPr>
          <a:xfrm>
            <a:off x="812800" y="4706342"/>
            <a:ext cx="2260600" cy="665361"/>
          </a:xfrm>
          <a:prstGeom prst="roundRect">
            <a:avLst>
              <a:gd name="adj" fmla="val 11452"/>
            </a:avLst>
          </a:prstGeom>
          <a:solidFill>
            <a:srgbClr val="17323A"/>
          </a:solidFill>
          <a:ln/>
        </p:spPr>
        <p:txBody>
          <a:bodyPr wrap="square" lIns="130082" tIns="104682" rIns="71408"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1.</a:t>
            </a:r>
            <a:r>
              <a:rPr lang="en-US" sz="1200" dirty="0">
                <a:solidFill>
                  <a:srgbClr val="F2EFE8"/>
                </a:solidFill>
                <a:latin typeface="Public Sans" pitchFamily="34" charset="0"/>
                <a:ea typeface="Public Sans" pitchFamily="34" charset="-122"/>
                <a:cs typeface="Public Sans" pitchFamily="34" charset="-120"/>
              </a:rPr>
              <a:t> Split 80/20 first: 809 train, 203 test</a:t>
            </a:r>
            <a:endParaRPr lang="en-US" sz="1200" dirty="0"/>
          </a:p>
        </p:txBody>
      </p:sp>
      <p:pic>
        <p:nvPicPr>
          <p:cNvPr id="26" name="Image 0" descr="arrow-right">    </p:cNvPr>
          <p:cNvPicPr>
            <a:picLocks noChangeAspect="1"/>
          </p:cNvPicPr>
          <p:nvPr/>
        </p:nvPicPr>
        <p:blipFill>
          <a:blip r:embed="rId1"/>
          <a:srcRect l="0" r="0" t="0" b="0"/>
          <a:stretch/>
        </p:blipFill>
        <p:spPr>
          <a:xfrm>
            <a:off x="3175000" y="4962823"/>
            <a:ext cx="304800" cy="152400"/>
          </a:xfrm>
          <a:prstGeom prst="rect">
            <a:avLst/>
          </a:prstGeom>
        </p:spPr>
      </p:pic>
      <p:sp>
        <p:nvSpPr>
          <p:cNvPr id="27" name="Text 24"/>
          <p:cNvSpPr/>
          <p:nvPr/>
        </p:nvSpPr>
        <p:spPr>
          <a:xfrm>
            <a:off x="3581400" y="4706342"/>
            <a:ext cx="2260600" cy="665361"/>
          </a:xfrm>
          <a:prstGeom prst="roundRect">
            <a:avLst>
              <a:gd name="adj" fmla="val 11452"/>
            </a:avLst>
          </a:prstGeom>
          <a:solidFill>
            <a:srgbClr val="17323A"/>
          </a:solidFill>
          <a:ln/>
        </p:spPr>
        <p:txBody>
          <a:bodyPr wrap="square" lIns="130082" tIns="104682" rIns="71408"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2.</a:t>
            </a:r>
            <a:r>
              <a:rPr lang="en-US" sz="1200" dirty="0">
                <a:solidFill>
                  <a:srgbClr val="F2EFE8"/>
                </a:solidFill>
                <a:latin typeface="Public Sans" pitchFamily="34" charset="0"/>
                <a:ea typeface="Public Sans" pitchFamily="34" charset="-122"/>
                <a:cs typeface="Public Sans" pitchFamily="34" charset="-120"/>
              </a:rPr>
              <a:t> Scaling inside a Pipeline (no data leakage)</a:t>
            </a:r>
            <a:endParaRPr lang="en-US" sz="1200" dirty="0"/>
          </a:p>
        </p:txBody>
      </p:sp>
      <p:pic>
        <p:nvPicPr>
          <p:cNvPr id="28" name="Image 1" descr="arrow-right">    </p:cNvPr>
          <p:cNvPicPr>
            <a:picLocks noChangeAspect="1"/>
          </p:cNvPicPr>
          <p:nvPr/>
        </p:nvPicPr>
        <p:blipFill>
          <a:blip r:embed="rId2"/>
          <a:srcRect l="0" r="0" t="0" b="0"/>
          <a:stretch/>
        </p:blipFill>
        <p:spPr>
          <a:xfrm>
            <a:off x="5943600" y="4962823"/>
            <a:ext cx="304800" cy="152400"/>
          </a:xfrm>
          <a:prstGeom prst="rect">
            <a:avLst/>
          </a:prstGeom>
        </p:spPr>
      </p:pic>
      <p:sp>
        <p:nvSpPr>
          <p:cNvPr id="29" name="Text 25"/>
          <p:cNvSpPr/>
          <p:nvPr/>
        </p:nvSpPr>
        <p:spPr>
          <a:xfrm>
            <a:off x="6350000" y="4706342"/>
            <a:ext cx="2260600" cy="665361"/>
          </a:xfrm>
          <a:prstGeom prst="roundRect">
            <a:avLst>
              <a:gd name="adj" fmla="val 11452"/>
            </a:avLst>
          </a:prstGeom>
          <a:solidFill>
            <a:srgbClr val="17323A"/>
          </a:solidFill>
          <a:ln/>
        </p:spPr>
        <p:txBody>
          <a:bodyPr wrap="square" lIns="130082" tIns="104682" rIns="71408"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3.</a:t>
            </a:r>
            <a:r>
              <a:rPr lang="en-US" sz="1200" dirty="0">
                <a:solidFill>
                  <a:srgbClr val="F2EFE8"/>
                </a:solidFill>
                <a:latin typeface="Public Sans" pitchFamily="34" charset="0"/>
                <a:ea typeface="Public Sans" pitchFamily="34" charset="-122"/>
                <a:cs typeface="Public Sans" pitchFamily="34" charset="-120"/>
              </a:rPr>
              <a:t> 5-fold stratified cross-validation</a:t>
            </a:r>
            <a:endParaRPr lang="en-US" sz="1200" dirty="0"/>
          </a:p>
        </p:txBody>
      </p:sp>
      <p:pic>
        <p:nvPicPr>
          <p:cNvPr id="30" name="Image 2" descr="arrow-right">    </p:cNvPr>
          <p:cNvPicPr>
            <a:picLocks noChangeAspect="1"/>
          </p:cNvPicPr>
          <p:nvPr/>
        </p:nvPicPr>
        <p:blipFill>
          <a:blip r:embed="rId3"/>
          <a:srcRect l="0" r="0" t="0" b="0"/>
          <a:stretch/>
        </p:blipFill>
        <p:spPr>
          <a:xfrm>
            <a:off x="8712200" y="4962823"/>
            <a:ext cx="304800" cy="152400"/>
          </a:xfrm>
          <a:prstGeom prst="rect">
            <a:avLst/>
          </a:prstGeom>
        </p:spPr>
      </p:pic>
      <p:sp>
        <p:nvSpPr>
          <p:cNvPr id="31" name="Text 26"/>
          <p:cNvSpPr/>
          <p:nvPr/>
        </p:nvSpPr>
        <p:spPr>
          <a:xfrm>
            <a:off x="9118600" y="4706342"/>
            <a:ext cx="2260600" cy="665361"/>
          </a:xfrm>
          <a:prstGeom prst="roundRect">
            <a:avLst>
              <a:gd name="adj" fmla="val 11452"/>
            </a:avLst>
          </a:prstGeom>
          <a:solidFill>
            <a:srgbClr val="17323A"/>
          </a:solidFill>
          <a:ln/>
        </p:spPr>
        <p:txBody>
          <a:bodyPr wrap="square" lIns="130082" tIns="104682" rIns="71408"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4.</a:t>
            </a:r>
            <a:r>
              <a:rPr lang="en-US" sz="1200" dirty="0">
                <a:solidFill>
                  <a:srgbClr val="F2EFE8"/>
                </a:solidFill>
                <a:latin typeface="Public Sans" pitchFamily="34" charset="0"/>
                <a:ea typeface="Public Sans" pitchFamily="34" charset="-122"/>
                <a:cs typeface="Public Sans" pitchFamily="34" charset="-120"/>
              </a:rPr>
              <a:t> Test set used only once, at the end</a:t>
            </a:r>
            <a:endParaRPr lang="en-US" sz="1200" dirty="0"/>
          </a:p>
        </p:txBody>
      </p:sp>
      <p:sp>
        <p:nvSpPr>
          <p:cNvPr id="32"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Source: UCI Maternal Health Risk Data Set (CC BY 4.0) · seed = 42</a:t>
            </a:r>
            <a:endParaRPr lang="en-US" sz="1200" dirty="0"/>
          </a:p>
        </p:txBody>
      </p:sp>
      <p:sp>
        <p:nvSpPr>
          <p:cNvPr id="33" name="Text 28"/>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Gino · 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1 · GINO · AXIS C: UNCERTAINTY</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Fuzzy logic: risk changes step by step</a:t>
            </a:r>
            <a:endParaRPr lang="en-US" sz="3200" dirty="0"/>
          </a:p>
        </p:txBody>
      </p:sp>
      <p:sp>
        <p:nvSpPr>
          <p:cNvPr id="4" name="Shape 2"/>
          <p:cNvSpPr/>
          <p:nvPr/>
        </p:nvSpPr>
        <p:spPr>
          <a:xfrm>
            <a:off x="815975" y="1806476"/>
            <a:ext cx="5708650" cy="3738761"/>
          </a:xfrm>
          <a:prstGeom prst="roundRect">
            <a:avLst>
              <a:gd name="adj" fmla="val 2633"/>
            </a:avLst>
          </a:prstGeom>
          <a:solidFill>
            <a:srgbClr val="FFFDF9"/>
          </a:solidFill>
          <a:ln w="6350">
            <a:solidFill>
              <a:srgbClr val="DCE3E0"/>
            </a:solidFill>
            <a:prstDash val="solid"/>
          </a:ln>
        </p:spPr>
      </p:sp>
      <p:sp>
        <p:nvSpPr>
          <p:cNvPr id="5" name="Text 3"/>
          <p:cNvSpPr/>
          <p:nvPr/>
        </p:nvSpPr>
        <p:spPr>
          <a:xfrm>
            <a:off x="1073150" y="2063651"/>
            <a:ext cx="53501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Blood sugar: three fuzzy groups</a:t>
            </a:r>
            <a:endParaRPr lang="en-US" sz="1500" dirty="0"/>
          </a:p>
        </p:txBody>
      </p:sp>
      <p:pic>
        <p:nvPicPr>
          <p:cNvPr id="6" name="Image 0" descr="Membership functions for blood sugar: Normal up to 7.8, Moderate from 7.2 to 11.5, High from 10.5 mmol/L">    </p:cNvPr>
          <p:cNvPicPr>
            <a:picLocks noChangeAspect="1"/>
          </p:cNvPicPr>
          <p:nvPr/>
        </p:nvPicPr>
        <p:blipFill>
          <a:blip r:embed="rId1"/>
          <a:srcRect l="0" r="0" t="0" b="0"/>
          <a:stretch/>
        </p:blipFill>
        <p:spPr>
          <a:xfrm>
            <a:off x="1073150" y="2393851"/>
            <a:ext cx="5080000" cy="2032000"/>
          </a:xfrm>
          <a:prstGeom prst="rect">
            <a:avLst/>
          </a:prstGeom>
        </p:spPr>
      </p:pic>
      <p:sp>
        <p:nvSpPr>
          <p:cNvPr id="7" name="Text 4"/>
          <p:cNvSpPr/>
          <p:nvPr/>
        </p:nvSpPr>
        <p:spPr>
          <a:xfrm>
            <a:off x="1073150" y="4527451"/>
            <a:ext cx="12590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7EAA"/>
                </a:solidFill>
                <a:latin typeface="Public Sans" pitchFamily="34" charset="0"/>
                <a:ea typeface="Public Sans" pitchFamily="34" charset="-122"/>
                <a:cs typeface="Public Sans" pitchFamily="34" charset="-120"/>
              </a:rPr>
              <a:t>Normal</a:t>
            </a:r>
            <a:r>
              <a:rPr lang="en-US" sz="1200" dirty="0">
                <a:solidFill>
                  <a:srgbClr val="3D7EAA"/>
                </a:solidFill>
                <a:latin typeface="Public Sans" pitchFamily="34" charset="0"/>
                <a:ea typeface="Public Sans" pitchFamily="34" charset="-122"/>
                <a:cs typeface="Public Sans" pitchFamily="34" charset="-120"/>
              </a:rPr>
              <a:t> (to 7.8)</a:t>
            </a:r>
            <a:endParaRPr lang="en-US" sz="1200" dirty="0"/>
          </a:p>
        </p:txBody>
      </p:sp>
      <p:sp>
        <p:nvSpPr>
          <p:cNvPr id="8" name="Text 5"/>
          <p:cNvSpPr/>
          <p:nvPr/>
        </p:nvSpPr>
        <p:spPr>
          <a:xfrm>
            <a:off x="2332236" y="4527451"/>
            <a:ext cx="15632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12"/>
                </a:solidFill>
                <a:latin typeface="Public Sans" pitchFamily="34" charset="0"/>
                <a:ea typeface="Public Sans" pitchFamily="34" charset="-122"/>
                <a:cs typeface="Public Sans" pitchFamily="34" charset="-120"/>
              </a:rPr>
              <a:t>Moderate</a:t>
            </a:r>
            <a:r>
              <a:rPr lang="en-US" sz="1200" dirty="0">
                <a:solidFill>
                  <a:srgbClr val="9A6A12"/>
                </a:solidFill>
                <a:latin typeface="Public Sans" pitchFamily="34" charset="0"/>
                <a:ea typeface="Public Sans" pitchFamily="34" charset="-122"/>
                <a:cs typeface="Public Sans" pitchFamily="34" charset="-120"/>
              </a:rPr>
              <a:t> (7.2–11.5)</a:t>
            </a:r>
            <a:endParaRPr lang="en-US" sz="1200" dirty="0"/>
          </a:p>
        </p:txBody>
      </p:sp>
      <p:sp>
        <p:nvSpPr>
          <p:cNvPr id="9" name="Text 6"/>
          <p:cNvSpPr/>
          <p:nvPr/>
        </p:nvSpPr>
        <p:spPr>
          <a:xfrm>
            <a:off x="3895527" y="4527451"/>
            <a:ext cx="1338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62A"/>
                </a:solidFill>
                <a:latin typeface="Public Sans" pitchFamily="34" charset="0"/>
                <a:ea typeface="Public Sans" pitchFamily="34" charset="-122"/>
                <a:cs typeface="Public Sans" pitchFamily="34" charset="-120"/>
              </a:rPr>
              <a:t>High</a:t>
            </a:r>
            <a:r>
              <a:rPr lang="en-US" sz="1200" dirty="0">
                <a:solidFill>
                  <a:srgbClr val="B5462A"/>
                </a:solidFill>
                <a:latin typeface="Public Sans" pitchFamily="34" charset="0"/>
                <a:ea typeface="Public Sans" pitchFamily="34" charset="-122"/>
                <a:cs typeface="Public Sans" pitchFamily="34" charset="-120"/>
              </a:rPr>
              <a:t> (from 10.5)</a:t>
            </a:r>
            <a:endParaRPr lang="en-US" sz="1200" dirty="0"/>
          </a:p>
        </p:txBody>
      </p:sp>
      <p:sp>
        <p:nvSpPr>
          <p:cNvPr id="10" name="Text 7"/>
          <p:cNvSpPr/>
          <p:nvPr/>
        </p:nvSpPr>
        <p:spPr>
          <a:xfrm>
            <a:off x="5233591" y="4527451"/>
            <a:ext cx="8722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mmol/L →</a:t>
            </a:r>
            <a:endParaRPr lang="en-US" sz="1200" dirty="0"/>
          </a:p>
        </p:txBody>
      </p:sp>
      <p:sp>
        <p:nvSpPr>
          <p:cNvPr id="11" name="Text 8"/>
          <p:cNvSpPr/>
          <p:nvPr/>
        </p:nvSpPr>
        <p:spPr>
          <a:xfrm>
            <a:off x="1073150" y="4842371"/>
            <a:ext cx="53501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5157"/>
                </a:solidFill>
                <a:latin typeface="Public Sans" pitchFamily="34" charset="0"/>
                <a:ea typeface="Public Sans" pitchFamily="34" charset="-122"/>
                <a:cs typeface="Public Sans" pitchFamily="34" charset="-120"/>
              </a:rPr>
              <a:t>The dashed line is 7.5 mmol/L: it is </a:t>
            </a:r>
            <a:r>
              <a:rPr lang="en-US" sz="1300" b="1" dirty="0">
                <a:solidFill>
                  <a:srgbClr val="3F5157"/>
                </a:solidFill>
                <a:latin typeface="Public Sans" pitchFamily="34" charset="0"/>
                <a:ea typeface="Public Sans" pitchFamily="34" charset="-122"/>
                <a:cs typeface="Public Sans" pitchFamily="34" charset="-120"/>
              </a:rPr>
              <a:t>partly Normal and partly Moderate</a:t>
            </a:r>
            <a:r>
              <a:rPr lang="en-US" sz="1300" dirty="0">
                <a:solidFill>
                  <a:srgbClr val="3F5157"/>
                </a:solidFill>
                <a:latin typeface="Public Sans" pitchFamily="34" charset="0"/>
                <a:ea typeface="Public Sans" pitchFamily="34" charset="-122"/>
                <a:cs typeface="Public Sans" pitchFamily="34" charset="-120"/>
              </a:rPr>
              <a:t>, not one or the other.</a:t>
            </a:r>
            <a:endParaRPr lang="en-US" sz="1300" dirty="0"/>
          </a:p>
        </p:txBody>
      </p:sp>
      <p:sp>
        <p:nvSpPr>
          <p:cNvPr id="12" name="Shape 9"/>
          <p:cNvSpPr/>
          <p:nvPr/>
        </p:nvSpPr>
        <p:spPr>
          <a:xfrm>
            <a:off x="6734175" y="1806476"/>
            <a:ext cx="4641850" cy="1486991"/>
          </a:xfrm>
          <a:prstGeom prst="roundRect">
            <a:avLst>
              <a:gd name="adj" fmla="val 6619"/>
            </a:avLst>
          </a:prstGeom>
          <a:solidFill>
            <a:srgbClr val="FFFDF9"/>
          </a:solidFill>
          <a:ln w="6350">
            <a:solidFill>
              <a:srgbClr val="DCE3E0"/>
            </a:solidFill>
            <a:prstDash val="solid"/>
          </a:ln>
        </p:spPr>
      </p:sp>
      <p:sp>
        <p:nvSpPr>
          <p:cNvPr id="13" name="Text 10"/>
          <p:cNvSpPr/>
          <p:nvPr/>
        </p:nvSpPr>
        <p:spPr>
          <a:xfrm>
            <a:off x="6940550" y="2012851"/>
            <a:ext cx="435597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Mamdani system: 3 inputs, 5 rules</a:t>
            </a:r>
            <a:endParaRPr lang="en-US" sz="1500" dirty="0"/>
          </a:p>
        </p:txBody>
      </p:sp>
      <p:sp>
        <p:nvSpPr>
          <p:cNvPr id="14" name="Text 11"/>
          <p:cNvSpPr/>
          <p:nvPr/>
        </p:nvSpPr>
        <p:spPr>
          <a:xfrm>
            <a:off x="6940550" y="2317651"/>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IF blood pressure is high OR sugar is high → </a:t>
            </a:r>
            <a:r>
              <a:rPr lang="en-US" sz="1200" b="1" dirty="0">
                <a:solidFill>
                  <a:srgbClr val="3F5157"/>
                </a:solidFill>
                <a:latin typeface="Public Sans" pitchFamily="34" charset="0"/>
                <a:ea typeface="Public Sans" pitchFamily="34" charset="-122"/>
                <a:cs typeface="Public Sans" pitchFamily="34" charset="-120"/>
              </a:rPr>
              <a:t>High</a:t>
            </a:r>
            <a:endParaRPr lang="en-US" sz="1200" dirty="0"/>
          </a:p>
        </p:txBody>
      </p:sp>
      <p:sp>
        <p:nvSpPr>
          <p:cNvPr id="15" name="Text 12"/>
          <p:cNvSpPr/>
          <p:nvPr/>
        </p:nvSpPr>
        <p:spPr>
          <a:xfrm>
            <a:off x="6940550" y="2599531"/>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IF pressure is elevated OR sugar is moderate → </a:t>
            </a:r>
            <a:r>
              <a:rPr lang="en-US" sz="1200" b="1" dirty="0">
                <a:solidFill>
                  <a:srgbClr val="3F5157"/>
                </a:solidFill>
                <a:latin typeface="Public Sans" pitchFamily="34" charset="0"/>
                <a:ea typeface="Public Sans" pitchFamily="34" charset="-122"/>
                <a:cs typeface="Public Sans" pitchFamily="34" charset="-120"/>
              </a:rPr>
              <a:t>Mid</a:t>
            </a:r>
            <a:endParaRPr lang="en-US" sz="1200" dirty="0"/>
          </a:p>
        </p:txBody>
      </p:sp>
      <p:sp>
        <p:nvSpPr>
          <p:cNvPr id="16" name="Text 13"/>
          <p:cNvSpPr/>
          <p:nvPr/>
        </p:nvSpPr>
        <p:spPr>
          <a:xfrm>
            <a:off x="6940550" y="2881412"/>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IF pressure, sugar and heart rate are normal → </a:t>
            </a:r>
            <a:r>
              <a:rPr lang="en-US" sz="1200" b="1" dirty="0">
                <a:solidFill>
                  <a:srgbClr val="3F5157"/>
                </a:solidFill>
                <a:latin typeface="Public Sans" pitchFamily="34" charset="0"/>
                <a:ea typeface="Public Sans" pitchFamily="34" charset="-122"/>
                <a:cs typeface="Public Sans" pitchFamily="34" charset="-120"/>
              </a:rPr>
              <a:t>Low</a:t>
            </a:r>
            <a:endParaRPr lang="en-US" sz="1200" dirty="0"/>
          </a:p>
        </p:txBody>
      </p:sp>
      <p:sp>
        <p:nvSpPr>
          <p:cNvPr id="17" name="Shape 14"/>
          <p:cNvSpPr/>
          <p:nvPr/>
        </p:nvSpPr>
        <p:spPr>
          <a:xfrm>
            <a:off x="6734175" y="3452217"/>
            <a:ext cx="4641850" cy="2060575"/>
          </a:xfrm>
          <a:prstGeom prst="roundRect">
            <a:avLst>
              <a:gd name="adj" fmla="val 4777"/>
            </a:avLst>
          </a:prstGeom>
          <a:solidFill>
            <a:srgbClr val="FFFDF9"/>
          </a:solidFill>
          <a:ln w="6350">
            <a:solidFill>
              <a:srgbClr val="DCE3E0"/>
            </a:solidFill>
            <a:prstDash val="solid"/>
          </a:ln>
        </p:spPr>
      </p:sp>
      <p:sp>
        <p:nvSpPr>
          <p:cNvPr id="18" name="Text 15"/>
          <p:cNvSpPr/>
          <p:nvPr/>
        </p:nvSpPr>
        <p:spPr>
          <a:xfrm>
            <a:off x="6940550" y="3658592"/>
            <a:ext cx="435597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Score from 0 to 10</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953250" y="3976092"/>
          <a:ext cx="4216400" cy="1330325"/>
        </p:xfrm>
        <a:graphic>
          <a:graphicData uri="http://schemas.openxmlformats.org/drawingml/2006/table">
            <a:tbl>
              <a:tblPr/>
              <a:tblGrid>
                <a:gridCol w="2192528"/>
                <a:gridCol w="843280"/>
                <a:gridCol w="1180592"/>
              </a:tblGrid>
              <a:tr h="332581">
                <a:tc>
                  <a:txBody>
                    <a:bodyPr/>
                    <a:lstStyle/>
                    <a:p>
                      <a:pPr indent="0" marL="0">
                        <a:lnSpc>
                          <a:spcPts val="1680"/>
                        </a:lnSpc>
                        <a:buNone/>
                      </a:pPr>
                      <a:r>
                        <a:rPr lang="en-US" sz="1200" b="1" dirty="0">
                          <a:solidFill>
                            <a:srgbClr val="3F5157"/>
                          </a:solidFill>
                          <a:latin typeface="Public Sans" pitchFamily="34" charset="0"/>
                          <a:ea typeface="Public Sans" pitchFamily="34" charset="-122"/>
                          <a:cs typeface="Public Sans" pitchFamily="34" charset="-120"/>
                        </a:rPr>
                        <a:t>Case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indent="0" marL="0">
                        <a:lnSpc>
                          <a:spcPts val="1680"/>
                        </a:lnSpc>
                        <a:buNone/>
                      </a:pPr>
                      <a:r>
                        <a:rPr lang="en-US" sz="1200" b="1" dirty="0">
                          <a:solidFill>
                            <a:srgbClr val="3F5157"/>
                          </a:solidFill>
                          <a:latin typeface="Public Sans" pitchFamily="34" charset="0"/>
                          <a:ea typeface="Public Sans" pitchFamily="34" charset="-122"/>
                          <a:cs typeface="Public Sans" pitchFamily="34" charset="-120"/>
                        </a:rPr>
                        <a:t>Score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indent="0" marL="0">
                        <a:lnSpc>
                          <a:spcPts val="1680"/>
                        </a:lnSpc>
                        <a:buNone/>
                      </a:pPr>
                      <a:r>
                        <a:rPr lang="en-US" sz="1200" b="1" dirty="0">
                          <a:solidFill>
                            <a:srgbClr val="3F5157"/>
                          </a:solidFill>
                          <a:latin typeface="Public Sans" pitchFamily="34" charset="0"/>
                          <a:ea typeface="Public Sans" pitchFamily="34" charset="-122"/>
                          <a:cs typeface="Public Sans" pitchFamily="34" charset="-120"/>
                        </a:rPr>
                        <a:t>Result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BP 100, sugar 7.0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1.48</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Low</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BP 125, sugar 8.5</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5.00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Mid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BP 145, sugar 12.0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8.56</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High</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20"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Built with scikit-fuzzy · Notebook 01</a:t>
            </a:r>
            <a:endParaRPr lang="en-US" sz="1200" dirty="0"/>
          </a:p>
        </p:txBody>
      </p:sp>
      <p:sp>
        <p:nvSpPr>
          <p:cNvPr id="21" name="Text 17"/>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Gino · 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2 · DIANA · AXIS A: MACHINE LEARNING</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Four models and a baseline, same test</a:t>
            </a:r>
            <a:endParaRPr lang="en-US" sz="3200" dirty="0"/>
          </a:p>
        </p:txBody>
      </p:sp>
      <p:sp>
        <p:nvSpPr>
          <p:cNvPr id="4" name="Shape 2"/>
          <p:cNvSpPr/>
          <p:nvPr/>
        </p:nvSpPr>
        <p:spPr>
          <a:xfrm>
            <a:off x="815975" y="1806476"/>
            <a:ext cx="5397202" cy="2711450"/>
          </a:xfrm>
          <a:prstGeom prst="roundRect">
            <a:avLst>
              <a:gd name="adj" fmla="val 3630"/>
            </a:avLst>
          </a:prstGeom>
          <a:solidFill>
            <a:srgbClr val="FFFDF9"/>
          </a:solidFill>
          <a:ln w="6350">
            <a:solidFill>
              <a:srgbClr val="DCE3E0"/>
            </a:solidFill>
            <a:prstDash val="solid"/>
          </a:ln>
        </p:spPr>
      </p:sp>
      <p:sp>
        <p:nvSpPr>
          <p:cNvPr id="5" name="Text 3"/>
          <p:cNvSpPr/>
          <p:nvPr/>
        </p:nvSpPr>
        <p:spPr>
          <a:xfrm>
            <a:off x="1073150" y="2063651"/>
            <a:ext cx="5029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F1-macro · 5-fold cross-validation</a:t>
            </a:r>
            <a:endParaRPr lang="en-US" sz="1500" dirty="0"/>
          </a:p>
        </p:txBody>
      </p:sp>
      <p:sp>
        <p:nvSpPr>
          <p:cNvPr id="6" name="Text 4"/>
          <p:cNvSpPr/>
          <p:nvPr/>
        </p:nvSpPr>
        <p:spPr>
          <a:xfrm>
            <a:off x="1073150" y="2443361"/>
            <a:ext cx="17659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Random Forest</a:t>
            </a:r>
            <a:endParaRPr lang="en-US" sz="1300" dirty="0"/>
          </a:p>
        </p:txBody>
      </p:sp>
      <p:sp>
        <p:nvSpPr>
          <p:cNvPr id="7" name="Shape 5"/>
          <p:cNvSpPr/>
          <p:nvPr/>
        </p:nvSpPr>
        <p:spPr>
          <a:xfrm>
            <a:off x="2889250" y="2431951"/>
            <a:ext cx="2006600" cy="254000"/>
          </a:xfrm>
          <a:prstGeom prst="roundRect">
            <a:avLst>
              <a:gd name="adj" fmla="val 20000"/>
            </a:avLst>
          </a:prstGeom>
          <a:solidFill>
            <a:srgbClr val="1F7A8C"/>
          </a:solidFill>
          <a:ln/>
        </p:spPr>
      </p:sp>
      <p:sp>
        <p:nvSpPr>
          <p:cNvPr id="8" name="Text 6"/>
          <p:cNvSpPr/>
          <p:nvPr/>
        </p:nvSpPr>
        <p:spPr>
          <a:xfrm>
            <a:off x="4997450" y="2443361"/>
            <a:ext cx="57102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0.832</a:t>
            </a:r>
            <a:endParaRPr lang="en-US" sz="1300" dirty="0"/>
          </a:p>
        </p:txBody>
      </p:sp>
      <p:sp>
        <p:nvSpPr>
          <p:cNvPr id="9" name="Text 7"/>
          <p:cNvSpPr/>
          <p:nvPr/>
        </p:nvSpPr>
        <p:spPr>
          <a:xfrm>
            <a:off x="1073150" y="283706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MLP (neural net)</a:t>
            </a:r>
            <a:endParaRPr lang="en-US" sz="1300" dirty="0"/>
          </a:p>
        </p:txBody>
      </p:sp>
      <p:sp>
        <p:nvSpPr>
          <p:cNvPr id="10" name="Shape 8"/>
          <p:cNvSpPr/>
          <p:nvPr/>
        </p:nvSpPr>
        <p:spPr>
          <a:xfrm>
            <a:off x="2889250" y="2825651"/>
            <a:ext cx="1727200" cy="254000"/>
          </a:xfrm>
          <a:prstGeom prst="roundRect">
            <a:avLst>
              <a:gd name="adj" fmla="val 20000"/>
            </a:avLst>
          </a:prstGeom>
          <a:solidFill>
            <a:srgbClr val="A7BFC3"/>
          </a:solidFill>
          <a:ln/>
        </p:spPr>
      </p:sp>
      <p:sp>
        <p:nvSpPr>
          <p:cNvPr id="11" name="Text 9"/>
          <p:cNvSpPr/>
          <p:nvPr/>
        </p:nvSpPr>
        <p:spPr>
          <a:xfrm>
            <a:off x="4718050" y="2837061"/>
            <a:ext cx="4782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0.717</a:t>
            </a:r>
            <a:endParaRPr lang="en-US" sz="1300" dirty="0"/>
          </a:p>
        </p:txBody>
      </p:sp>
      <p:sp>
        <p:nvSpPr>
          <p:cNvPr id="12" name="Text 10"/>
          <p:cNvSpPr/>
          <p:nvPr/>
        </p:nvSpPr>
        <p:spPr>
          <a:xfrm>
            <a:off x="1073150" y="323076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SVM (RBF)</a:t>
            </a:r>
            <a:endParaRPr lang="en-US" sz="1300" dirty="0"/>
          </a:p>
        </p:txBody>
      </p:sp>
      <p:sp>
        <p:nvSpPr>
          <p:cNvPr id="13" name="Shape 11"/>
          <p:cNvSpPr/>
          <p:nvPr/>
        </p:nvSpPr>
        <p:spPr>
          <a:xfrm>
            <a:off x="2889250" y="3219351"/>
            <a:ext cx="1619250" cy="254000"/>
          </a:xfrm>
          <a:prstGeom prst="roundRect">
            <a:avLst>
              <a:gd name="adj" fmla="val 20000"/>
            </a:avLst>
          </a:prstGeom>
          <a:solidFill>
            <a:srgbClr val="A7BFC3"/>
          </a:solidFill>
          <a:ln/>
        </p:spPr>
      </p:sp>
      <p:sp>
        <p:nvSpPr>
          <p:cNvPr id="14" name="Text 12"/>
          <p:cNvSpPr/>
          <p:nvPr/>
        </p:nvSpPr>
        <p:spPr>
          <a:xfrm>
            <a:off x="4610100" y="3230761"/>
            <a:ext cx="52399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0.672</a:t>
            </a:r>
            <a:endParaRPr lang="en-US" sz="1300" dirty="0"/>
          </a:p>
        </p:txBody>
      </p:sp>
      <p:sp>
        <p:nvSpPr>
          <p:cNvPr id="15" name="Text 13"/>
          <p:cNvSpPr/>
          <p:nvPr/>
        </p:nvSpPr>
        <p:spPr>
          <a:xfrm>
            <a:off x="1073150" y="362446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KNN (k = 5)</a:t>
            </a:r>
            <a:endParaRPr lang="en-US" sz="1300" dirty="0"/>
          </a:p>
        </p:txBody>
      </p:sp>
      <p:sp>
        <p:nvSpPr>
          <p:cNvPr id="16" name="Shape 14"/>
          <p:cNvSpPr/>
          <p:nvPr/>
        </p:nvSpPr>
        <p:spPr>
          <a:xfrm>
            <a:off x="2889250" y="3613051"/>
            <a:ext cx="1612900" cy="254000"/>
          </a:xfrm>
          <a:prstGeom prst="roundRect">
            <a:avLst>
              <a:gd name="adj" fmla="val 20000"/>
            </a:avLst>
          </a:prstGeom>
          <a:solidFill>
            <a:srgbClr val="A7BFC3"/>
          </a:solidFill>
          <a:ln/>
        </p:spPr>
      </p:sp>
      <p:sp>
        <p:nvSpPr>
          <p:cNvPr id="17" name="Text 15"/>
          <p:cNvSpPr/>
          <p:nvPr/>
        </p:nvSpPr>
        <p:spPr>
          <a:xfrm>
            <a:off x="4603750" y="3624461"/>
            <a:ext cx="53828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0.668</a:t>
            </a:r>
            <a:endParaRPr lang="en-US" sz="1300" dirty="0"/>
          </a:p>
        </p:txBody>
      </p:sp>
      <p:sp>
        <p:nvSpPr>
          <p:cNvPr id="18" name="Text 16"/>
          <p:cNvSpPr/>
          <p:nvPr/>
        </p:nvSpPr>
        <p:spPr>
          <a:xfrm>
            <a:off x="1073150" y="401816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Baseline (Dummy)</a:t>
            </a:r>
            <a:endParaRPr lang="en-US" sz="1300" dirty="0"/>
          </a:p>
        </p:txBody>
      </p:sp>
      <p:sp>
        <p:nvSpPr>
          <p:cNvPr id="19" name="Shape 17"/>
          <p:cNvSpPr/>
          <p:nvPr/>
        </p:nvSpPr>
        <p:spPr>
          <a:xfrm>
            <a:off x="2889250" y="4006751"/>
            <a:ext cx="457200" cy="254000"/>
          </a:xfrm>
          <a:prstGeom prst="roundRect">
            <a:avLst>
              <a:gd name="adj" fmla="val 20000"/>
            </a:avLst>
          </a:prstGeom>
          <a:solidFill>
            <a:srgbClr val="D5DCDA"/>
          </a:solidFill>
          <a:ln/>
        </p:spPr>
      </p:sp>
      <p:sp>
        <p:nvSpPr>
          <p:cNvPr id="20" name="Text 18"/>
          <p:cNvSpPr/>
          <p:nvPr/>
        </p:nvSpPr>
        <p:spPr>
          <a:xfrm>
            <a:off x="3448050" y="4018161"/>
            <a:ext cx="49018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0.190</a:t>
            </a:r>
            <a:endParaRPr lang="en-US" sz="1300" dirty="0"/>
          </a:p>
        </p:txBody>
      </p:sp>
      <p:sp>
        <p:nvSpPr>
          <p:cNvPr id="21" name="Shape 19"/>
          <p:cNvSpPr/>
          <p:nvPr/>
        </p:nvSpPr>
        <p:spPr>
          <a:xfrm>
            <a:off x="6422727" y="1806476"/>
            <a:ext cx="4953298" cy="2711450"/>
          </a:xfrm>
          <a:prstGeom prst="roundRect">
            <a:avLst>
              <a:gd name="adj" fmla="val 3630"/>
            </a:avLst>
          </a:prstGeom>
          <a:solidFill>
            <a:srgbClr val="FFFDF9"/>
          </a:solidFill>
          <a:ln w="6350">
            <a:solidFill>
              <a:srgbClr val="DCE3E0"/>
            </a:solidFill>
            <a:prstDash val="solid"/>
          </a:ln>
        </p:spPr>
      </p:sp>
      <p:sp>
        <p:nvSpPr>
          <p:cNvPr id="22" name="Text 20"/>
          <p:cNvSpPr/>
          <p:nvPr/>
        </p:nvSpPr>
        <p:spPr>
          <a:xfrm>
            <a:off x="6679902" y="2063651"/>
            <a:ext cx="457211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How each model decides</a:t>
            </a:r>
            <a:endParaRPr lang="en-US" sz="1500" dirty="0"/>
          </a:p>
        </p:txBody>
      </p:sp>
      <p:sp>
        <p:nvSpPr>
          <p:cNvPr id="23" name="Text 21"/>
          <p:cNvSpPr/>
          <p:nvPr/>
        </p:nvSpPr>
        <p:spPr>
          <a:xfrm>
            <a:off x="6679902" y="2419251"/>
            <a:ext cx="4572116"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KNN:</a:t>
            </a:r>
            <a:r>
              <a:rPr lang="en-US" sz="1300" dirty="0">
                <a:solidFill>
                  <a:srgbClr val="3F5157"/>
                </a:solidFill>
                <a:latin typeface="Public Sans" pitchFamily="34" charset="0"/>
                <a:ea typeface="Public Sans" pitchFamily="34" charset="-122"/>
                <a:cs typeface="Public Sans" pitchFamily="34" charset="-120"/>
              </a:rPr>
              <a:t> looks at the 5 most similar patients.</a:t>
            </a:r>
            <a:endParaRPr lang="en-US" sz="1300" dirty="0"/>
          </a:p>
        </p:txBody>
      </p:sp>
      <p:sp>
        <p:nvSpPr>
          <p:cNvPr id="24" name="Text 22"/>
          <p:cNvSpPr/>
          <p:nvPr/>
        </p:nvSpPr>
        <p:spPr>
          <a:xfrm>
            <a:off x="6679902" y="2769096"/>
            <a:ext cx="4572116"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SVM:</a:t>
            </a:r>
            <a:r>
              <a:rPr lang="en-US" sz="1300" dirty="0">
                <a:solidFill>
                  <a:srgbClr val="3F5157"/>
                </a:solidFill>
                <a:latin typeface="Public Sans" pitchFamily="34" charset="0"/>
                <a:ea typeface="Public Sans" pitchFamily="34" charset="-122"/>
                <a:cs typeface="Public Sans" pitchFamily="34" charset="-120"/>
              </a:rPr>
              <a:t> draws the widest border between the classes.</a:t>
            </a:r>
            <a:endParaRPr lang="en-US" sz="1300" dirty="0"/>
          </a:p>
        </p:txBody>
      </p:sp>
      <p:sp>
        <p:nvSpPr>
          <p:cNvPr id="25" name="Text 23"/>
          <p:cNvSpPr/>
          <p:nvPr/>
        </p:nvSpPr>
        <p:spPr>
          <a:xfrm>
            <a:off x="6679902" y="3118941"/>
            <a:ext cx="4572116"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MLP:</a:t>
            </a:r>
            <a:r>
              <a:rPr lang="en-US" sz="1300" dirty="0">
                <a:solidFill>
                  <a:srgbClr val="3F5157"/>
                </a:solidFill>
                <a:latin typeface="Public Sans" pitchFamily="34" charset="0"/>
                <a:ea typeface="Public Sans" pitchFamily="34" charset="-122"/>
                <a:cs typeface="Public Sans" pitchFamily="34" charset="-120"/>
              </a:rPr>
              <a:t> layers of neurons learn from their errors (backpropagation).</a:t>
            </a:r>
            <a:endParaRPr lang="en-US" sz="1300" dirty="0"/>
          </a:p>
        </p:txBody>
      </p:sp>
      <p:sp>
        <p:nvSpPr>
          <p:cNvPr id="26" name="Text 24"/>
          <p:cNvSpPr/>
          <p:nvPr/>
        </p:nvSpPr>
        <p:spPr>
          <a:xfrm>
            <a:off x="6679902" y="3691632"/>
            <a:ext cx="4572116"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F5157"/>
                </a:solidFill>
                <a:latin typeface="Public Sans" pitchFamily="34" charset="0"/>
                <a:ea typeface="Public Sans" pitchFamily="34" charset="-122"/>
                <a:cs typeface="Public Sans" pitchFamily="34" charset="-120"/>
              </a:rPr>
              <a:t>Random Forest:</a:t>
            </a:r>
            <a:r>
              <a:rPr lang="en-US" sz="1300" dirty="0">
                <a:solidFill>
                  <a:srgbClr val="3F5157"/>
                </a:solidFill>
                <a:latin typeface="Public Sans" pitchFamily="34" charset="0"/>
                <a:ea typeface="Public Sans" pitchFamily="34" charset="-122"/>
                <a:cs typeface="Public Sans" pitchFamily="34" charset="-120"/>
              </a:rPr>
              <a:t> many decision trees vote together.</a:t>
            </a:r>
            <a:endParaRPr lang="en-US" sz="1300" dirty="0"/>
          </a:p>
        </p:txBody>
      </p:sp>
      <p:sp>
        <p:nvSpPr>
          <p:cNvPr id="27" name="Text 25"/>
          <p:cNvSpPr/>
          <p:nvPr/>
        </p:nvSpPr>
        <p:spPr>
          <a:xfrm>
            <a:off x="812800" y="477510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323A"/>
                </a:solidFill>
                <a:latin typeface="Public Sans" pitchFamily="34" charset="0"/>
                <a:ea typeface="Public Sans" pitchFamily="34" charset="-122"/>
                <a:cs typeface="Public Sans" pitchFamily="34" charset="-120"/>
              </a:rPr>
              <a:t>Random Forest wins by more than 0.11. Risk follows clinical limits (like sugar ≥ 7.8), and trees split the data in the same way.</a:t>
            </a:r>
            <a:endParaRPr lang="en-US" sz="1400" dirty="0"/>
          </a:p>
        </p:txBody>
      </p:sp>
      <p:sp>
        <p:nvSpPr>
          <p:cNvPr id="28"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809 training records · same Pipeline and folds for all models · Notebook 02</a:t>
            </a:r>
            <a:endParaRPr lang="en-US" sz="1200" dirty="0"/>
          </a:p>
        </p:txBody>
      </p:sp>
      <p:sp>
        <p:nvSpPr>
          <p:cNvPr id="29" name="Text 27"/>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Diana · 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2 · DIANA · AXIS B: OPTIMIZATION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Genetic algorithm: settings that evolve</a:t>
            </a:r>
            <a:endParaRPr lang="en-US" sz="3200" dirty="0"/>
          </a:p>
        </p:txBody>
      </p:sp>
      <p:sp>
        <p:nvSpPr>
          <p:cNvPr id="4" name="Shape 2"/>
          <p:cNvSpPr/>
          <p:nvPr/>
        </p:nvSpPr>
        <p:spPr>
          <a:xfrm>
            <a:off x="815975" y="1883866"/>
            <a:ext cx="1741091" cy="1060351"/>
          </a:xfrm>
          <a:prstGeom prst="roundRect">
            <a:avLst>
              <a:gd name="adj" fmla="val 9282"/>
            </a:avLst>
          </a:prstGeom>
          <a:solidFill>
            <a:srgbClr val="FFFDF9"/>
          </a:solidFill>
          <a:ln w="6350">
            <a:solidFill>
              <a:srgbClr val="DCE3E0"/>
            </a:solidFill>
            <a:prstDash val="solid"/>
          </a:ln>
        </p:spPr>
      </p:sp>
      <p:sp>
        <p:nvSpPr>
          <p:cNvPr id="5" name="Text 3"/>
          <p:cNvSpPr/>
          <p:nvPr/>
        </p:nvSpPr>
        <p:spPr>
          <a:xfrm>
            <a:off x="971550" y="2039441"/>
            <a:ext cx="14807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8C"/>
                </a:solidFill>
                <a:latin typeface="Public Sans" pitchFamily="34" charset="0"/>
                <a:ea typeface="Public Sans" pitchFamily="34" charset="-122"/>
                <a:cs typeface="Public Sans" pitchFamily="34" charset="-120"/>
              </a:rPr>
              <a:t>Step 1</a:t>
            </a:r>
            <a:endParaRPr lang="en-US" sz="1200" dirty="0"/>
          </a:p>
        </p:txBody>
      </p:sp>
      <p:sp>
        <p:nvSpPr>
          <p:cNvPr id="6" name="Text 4"/>
          <p:cNvSpPr/>
          <p:nvPr/>
        </p:nvSpPr>
        <p:spPr>
          <a:xfrm>
            <a:off x="971550" y="2303562"/>
            <a:ext cx="14807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Population</a:t>
            </a:r>
            <a:endParaRPr lang="en-US" sz="1500" dirty="0"/>
          </a:p>
        </p:txBody>
      </p:sp>
      <p:sp>
        <p:nvSpPr>
          <p:cNvPr id="7" name="Text 5"/>
          <p:cNvSpPr/>
          <p:nvPr/>
        </p:nvSpPr>
        <p:spPr>
          <a:xfrm>
            <a:off x="971550" y="2582962"/>
            <a:ext cx="14807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12 random settings</a:t>
            </a:r>
            <a:endParaRPr lang="en-US" sz="1200" dirty="0"/>
          </a:p>
        </p:txBody>
      </p:sp>
      <p:pic>
        <p:nvPicPr>
          <p:cNvPr id="8" name="Image 0" descr="arrow-right">    </p:cNvPr>
          <p:cNvPicPr>
            <a:picLocks noChangeAspect="1"/>
          </p:cNvPicPr>
          <p:nvPr/>
        </p:nvPicPr>
        <p:blipFill>
          <a:blip r:embed="rId1"/>
          <a:srcRect l="0" r="0" t="0" b="0"/>
          <a:stretch/>
        </p:blipFill>
        <p:spPr>
          <a:xfrm>
            <a:off x="2661841" y="2350591"/>
            <a:ext cx="254000" cy="127000"/>
          </a:xfrm>
          <a:prstGeom prst="rect">
            <a:avLst/>
          </a:prstGeom>
        </p:spPr>
      </p:pic>
      <p:sp>
        <p:nvSpPr>
          <p:cNvPr id="9" name="Shape 6"/>
          <p:cNvSpPr/>
          <p:nvPr/>
        </p:nvSpPr>
        <p:spPr>
          <a:xfrm>
            <a:off x="3020616" y="1781076"/>
            <a:ext cx="1741190" cy="1266031"/>
          </a:xfrm>
          <a:prstGeom prst="roundRect">
            <a:avLst>
              <a:gd name="adj" fmla="val 7774"/>
            </a:avLst>
          </a:prstGeom>
          <a:solidFill>
            <a:srgbClr val="FFFDF9"/>
          </a:solidFill>
          <a:ln w="6350">
            <a:solidFill>
              <a:srgbClr val="DCE3E0"/>
            </a:solidFill>
            <a:prstDash val="solid"/>
          </a:ln>
        </p:spPr>
      </p:sp>
      <p:sp>
        <p:nvSpPr>
          <p:cNvPr id="10" name="Text 7"/>
          <p:cNvSpPr/>
          <p:nvPr/>
        </p:nvSpPr>
        <p:spPr>
          <a:xfrm>
            <a:off x="3176191" y="1936651"/>
            <a:ext cx="1480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8C"/>
                </a:solidFill>
                <a:latin typeface="Public Sans" pitchFamily="34" charset="0"/>
                <a:ea typeface="Public Sans" pitchFamily="34" charset="-122"/>
                <a:cs typeface="Public Sans" pitchFamily="34" charset="-120"/>
              </a:rPr>
              <a:t>Step 2</a:t>
            </a:r>
            <a:endParaRPr lang="en-US" sz="1200" dirty="0"/>
          </a:p>
        </p:txBody>
      </p:sp>
      <p:sp>
        <p:nvSpPr>
          <p:cNvPr id="11" name="Text 8"/>
          <p:cNvSpPr/>
          <p:nvPr/>
        </p:nvSpPr>
        <p:spPr>
          <a:xfrm>
            <a:off x="3176191" y="2200771"/>
            <a:ext cx="14808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Fitness</a:t>
            </a:r>
            <a:endParaRPr lang="en-US" sz="1500" dirty="0"/>
          </a:p>
        </p:txBody>
      </p:sp>
      <p:sp>
        <p:nvSpPr>
          <p:cNvPr id="12" name="Text 9"/>
          <p:cNvSpPr/>
          <p:nvPr/>
        </p:nvSpPr>
        <p:spPr>
          <a:xfrm>
            <a:off x="3176191" y="2480171"/>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F1 score in 5-fold CV</a:t>
            </a:r>
            <a:endParaRPr lang="en-US" sz="1200" dirty="0"/>
          </a:p>
        </p:txBody>
      </p:sp>
      <p:pic>
        <p:nvPicPr>
          <p:cNvPr id="13" name="Image 1" descr="arrow-right">    </p:cNvPr>
          <p:cNvPicPr>
            <a:picLocks noChangeAspect="1"/>
          </p:cNvPicPr>
          <p:nvPr/>
        </p:nvPicPr>
        <p:blipFill>
          <a:blip r:embed="rId2"/>
          <a:srcRect l="0" r="0" t="0" b="0"/>
          <a:stretch/>
        </p:blipFill>
        <p:spPr>
          <a:xfrm>
            <a:off x="4866580" y="2350591"/>
            <a:ext cx="254000" cy="127000"/>
          </a:xfrm>
          <a:prstGeom prst="rect">
            <a:avLst/>
          </a:prstGeom>
        </p:spPr>
      </p:pic>
      <p:sp>
        <p:nvSpPr>
          <p:cNvPr id="14" name="Shape 10"/>
          <p:cNvSpPr/>
          <p:nvPr/>
        </p:nvSpPr>
        <p:spPr>
          <a:xfrm>
            <a:off x="5225355" y="1781076"/>
            <a:ext cx="1741190" cy="1266031"/>
          </a:xfrm>
          <a:prstGeom prst="roundRect">
            <a:avLst>
              <a:gd name="adj" fmla="val 7774"/>
            </a:avLst>
          </a:prstGeom>
          <a:solidFill>
            <a:srgbClr val="FFFDF9"/>
          </a:solidFill>
          <a:ln w="6350">
            <a:solidFill>
              <a:srgbClr val="DCE3E0"/>
            </a:solidFill>
            <a:prstDash val="solid"/>
          </a:ln>
        </p:spPr>
      </p:sp>
      <p:sp>
        <p:nvSpPr>
          <p:cNvPr id="15" name="Text 11"/>
          <p:cNvSpPr/>
          <p:nvPr/>
        </p:nvSpPr>
        <p:spPr>
          <a:xfrm>
            <a:off x="5380930" y="1936651"/>
            <a:ext cx="1480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8C"/>
                </a:solidFill>
                <a:latin typeface="Public Sans" pitchFamily="34" charset="0"/>
                <a:ea typeface="Public Sans" pitchFamily="34" charset="-122"/>
                <a:cs typeface="Public Sans" pitchFamily="34" charset="-120"/>
              </a:rPr>
              <a:t>Step 3</a:t>
            </a:r>
            <a:endParaRPr lang="en-US" sz="1200" dirty="0"/>
          </a:p>
        </p:txBody>
      </p:sp>
      <p:sp>
        <p:nvSpPr>
          <p:cNvPr id="16" name="Text 12"/>
          <p:cNvSpPr/>
          <p:nvPr/>
        </p:nvSpPr>
        <p:spPr>
          <a:xfrm>
            <a:off x="5380930" y="2200771"/>
            <a:ext cx="14808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Selection</a:t>
            </a:r>
            <a:endParaRPr lang="en-US" sz="1500" dirty="0"/>
          </a:p>
        </p:txBody>
      </p:sp>
      <p:sp>
        <p:nvSpPr>
          <p:cNvPr id="17" name="Text 13"/>
          <p:cNvSpPr/>
          <p:nvPr/>
        </p:nvSpPr>
        <p:spPr>
          <a:xfrm>
            <a:off x="5380930" y="2480171"/>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tournament of 3: best one wins</a:t>
            </a:r>
            <a:endParaRPr lang="en-US" sz="1200" dirty="0"/>
          </a:p>
        </p:txBody>
      </p:sp>
      <p:pic>
        <p:nvPicPr>
          <p:cNvPr id="18" name="Image 2" descr="arrow-right">    </p:cNvPr>
          <p:cNvPicPr>
            <a:picLocks noChangeAspect="1"/>
          </p:cNvPicPr>
          <p:nvPr/>
        </p:nvPicPr>
        <p:blipFill>
          <a:blip r:embed="rId3"/>
          <a:srcRect l="0" r="0" t="0" b="0"/>
          <a:stretch/>
        </p:blipFill>
        <p:spPr>
          <a:xfrm>
            <a:off x="7071320" y="2350591"/>
            <a:ext cx="254000" cy="127000"/>
          </a:xfrm>
          <a:prstGeom prst="rect">
            <a:avLst/>
          </a:prstGeom>
        </p:spPr>
      </p:pic>
      <p:sp>
        <p:nvSpPr>
          <p:cNvPr id="19" name="Shape 14"/>
          <p:cNvSpPr/>
          <p:nvPr/>
        </p:nvSpPr>
        <p:spPr>
          <a:xfrm>
            <a:off x="7430095" y="1781076"/>
            <a:ext cx="1741190" cy="1266031"/>
          </a:xfrm>
          <a:prstGeom prst="roundRect">
            <a:avLst>
              <a:gd name="adj" fmla="val 7774"/>
            </a:avLst>
          </a:prstGeom>
          <a:solidFill>
            <a:srgbClr val="FFFDF9"/>
          </a:solidFill>
          <a:ln w="6350">
            <a:solidFill>
              <a:srgbClr val="DCE3E0"/>
            </a:solidFill>
            <a:prstDash val="solid"/>
          </a:ln>
        </p:spPr>
      </p:sp>
      <p:sp>
        <p:nvSpPr>
          <p:cNvPr id="20" name="Text 15"/>
          <p:cNvSpPr/>
          <p:nvPr/>
        </p:nvSpPr>
        <p:spPr>
          <a:xfrm>
            <a:off x="7585670" y="1936651"/>
            <a:ext cx="1480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8C"/>
                </a:solidFill>
                <a:latin typeface="Public Sans" pitchFamily="34" charset="0"/>
                <a:ea typeface="Public Sans" pitchFamily="34" charset="-122"/>
                <a:cs typeface="Public Sans" pitchFamily="34" charset="-120"/>
              </a:rPr>
              <a:t>Step 4</a:t>
            </a:r>
            <a:endParaRPr lang="en-US" sz="1200" dirty="0"/>
          </a:p>
        </p:txBody>
      </p:sp>
      <p:sp>
        <p:nvSpPr>
          <p:cNvPr id="21" name="Text 16"/>
          <p:cNvSpPr/>
          <p:nvPr/>
        </p:nvSpPr>
        <p:spPr>
          <a:xfrm>
            <a:off x="7585670" y="2200771"/>
            <a:ext cx="14808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Crossover</a:t>
            </a:r>
            <a:endParaRPr lang="en-US" sz="1500" dirty="0"/>
          </a:p>
        </p:txBody>
      </p:sp>
      <p:sp>
        <p:nvSpPr>
          <p:cNvPr id="22" name="Text 17"/>
          <p:cNvSpPr/>
          <p:nvPr/>
        </p:nvSpPr>
        <p:spPr>
          <a:xfrm>
            <a:off x="7585670" y="2480171"/>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mix genes of two parents</a:t>
            </a:r>
            <a:endParaRPr lang="en-US" sz="1200" dirty="0"/>
          </a:p>
        </p:txBody>
      </p:sp>
      <p:pic>
        <p:nvPicPr>
          <p:cNvPr id="23" name="Image 3" descr="arrow-right">    </p:cNvPr>
          <p:cNvPicPr>
            <a:picLocks noChangeAspect="1"/>
          </p:cNvPicPr>
          <p:nvPr/>
        </p:nvPicPr>
        <p:blipFill>
          <a:blip r:embed="rId4"/>
          <a:srcRect l="0" r="0" t="0" b="0"/>
          <a:stretch/>
        </p:blipFill>
        <p:spPr>
          <a:xfrm>
            <a:off x="9276060" y="2350591"/>
            <a:ext cx="254000" cy="127000"/>
          </a:xfrm>
          <a:prstGeom prst="rect">
            <a:avLst/>
          </a:prstGeom>
        </p:spPr>
      </p:pic>
      <p:sp>
        <p:nvSpPr>
          <p:cNvPr id="24" name="Shape 18"/>
          <p:cNvSpPr/>
          <p:nvPr/>
        </p:nvSpPr>
        <p:spPr>
          <a:xfrm>
            <a:off x="9634835" y="1781076"/>
            <a:ext cx="1741190" cy="1266031"/>
          </a:xfrm>
          <a:prstGeom prst="roundRect">
            <a:avLst>
              <a:gd name="adj" fmla="val 7774"/>
            </a:avLst>
          </a:prstGeom>
          <a:solidFill>
            <a:srgbClr val="FFFDF9"/>
          </a:solidFill>
          <a:ln w="6350">
            <a:solidFill>
              <a:srgbClr val="DCE3E0"/>
            </a:solidFill>
            <a:prstDash val="solid"/>
          </a:ln>
        </p:spPr>
      </p:sp>
      <p:sp>
        <p:nvSpPr>
          <p:cNvPr id="25" name="Text 19"/>
          <p:cNvSpPr/>
          <p:nvPr/>
        </p:nvSpPr>
        <p:spPr>
          <a:xfrm>
            <a:off x="9790410" y="1936651"/>
            <a:ext cx="1480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8C"/>
                </a:solidFill>
                <a:latin typeface="Public Sans" pitchFamily="34" charset="0"/>
                <a:ea typeface="Public Sans" pitchFamily="34" charset="-122"/>
                <a:cs typeface="Public Sans" pitchFamily="34" charset="-120"/>
              </a:rPr>
              <a:t>Step 5</a:t>
            </a:r>
            <a:endParaRPr lang="en-US" sz="1200" dirty="0"/>
          </a:p>
        </p:txBody>
      </p:sp>
      <p:sp>
        <p:nvSpPr>
          <p:cNvPr id="26" name="Text 20"/>
          <p:cNvSpPr/>
          <p:nvPr/>
        </p:nvSpPr>
        <p:spPr>
          <a:xfrm>
            <a:off x="9790410" y="2200771"/>
            <a:ext cx="14808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Mutation</a:t>
            </a:r>
            <a:endParaRPr lang="en-US" sz="1500" dirty="0"/>
          </a:p>
        </p:txBody>
      </p:sp>
      <p:sp>
        <p:nvSpPr>
          <p:cNvPr id="27" name="Text 21"/>
          <p:cNvSpPr/>
          <p:nvPr/>
        </p:nvSpPr>
        <p:spPr>
          <a:xfrm>
            <a:off x="9790410" y="2480171"/>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random change (20% per gene)</a:t>
            </a:r>
            <a:endParaRPr lang="en-US" sz="1200" dirty="0"/>
          </a:p>
        </p:txBody>
      </p:sp>
      <p:sp>
        <p:nvSpPr>
          <p:cNvPr id="28" name="Text 22"/>
          <p:cNvSpPr/>
          <p:nvPr/>
        </p:nvSpPr>
        <p:spPr>
          <a:xfrm>
            <a:off x="812800" y="3278882"/>
            <a:ext cx="10566400" cy="434280"/>
          </a:xfrm>
          <a:prstGeom prst="roundRect">
            <a:avLst>
              <a:gd name="adj" fmla="val 17546"/>
            </a:avLst>
          </a:prstGeom>
          <a:solidFill>
            <a:srgbClr val="17323A"/>
          </a:solidFill>
          <a:ln/>
        </p:spPr>
        <p:txBody>
          <a:bodyPr wrap="square" lIns="2320" tIns="79282" rIns="2320" bIns="53882" rtlCol="0" anchor="t">
            <a:normAutofit/>
          </a:bodyPr>
          <a:lstStyle/>
          <a:p>
            <a:pPr algn="ctr" indent="0" marL="0">
              <a:lnSpc>
                <a:spcPts val="1820"/>
              </a:lnSpc>
              <a:buNone/>
            </a:pPr>
            <a:r>
              <a:rPr lang="en-US" sz="1300" dirty="0">
                <a:solidFill>
                  <a:srgbClr val="F2EFE8"/>
                </a:solidFill>
                <a:latin typeface="Public Sans" pitchFamily="34" charset="0"/>
                <a:ea typeface="Public Sans" pitchFamily="34" charset="-122"/>
                <a:cs typeface="Public Sans" pitchFamily="34" charset="-120"/>
              </a:rPr>
              <a:t>↻ Repeat for 12 generations · the best 2 always survive (elitism)</a:t>
            </a:r>
            <a:endParaRPr lang="en-US" sz="1300" dirty="0"/>
          </a:p>
        </p:txBody>
      </p:sp>
      <p:sp>
        <p:nvSpPr>
          <p:cNvPr id="29" name="Shape 23"/>
          <p:cNvSpPr/>
          <p:nvPr/>
        </p:nvSpPr>
        <p:spPr>
          <a:xfrm>
            <a:off x="815975" y="3944937"/>
            <a:ext cx="6127750" cy="1448991"/>
          </a:xfrm>
          <a:prstGeom prst="roundRect">
            <a:avLst>
              <a:gd name="adj" fmla="val 6793"/>
            </a:avLst>
          </a:prstGeom>
          <a:solidFill>
            <a:srgbClr val="FFFDF9"/>
          </a:solidFill>
          <a:ln w="6350">
            <a:solidFill>
              <a:srgbClr val="DCE3E0"/>
            </a:solidFill>
            <a:prstDash val="solid"/>
          </a:ln>
        </p:spPr>
      </p:sp>
      <p:sp>
        <p:nvSpPr>
          <p:cNvPr id="30" name="Text 24"/>
          <p:cNvSpPr/>
          <p:nvPr/>
        </p:nvSpPr>
        <p:spPr>
          <a:xfrm>
            <a:off x="1022350" y="4151313"/>
            <a:ext cx="58864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One chromosome = 6 genes (Random Forest settings)</a:t>
            </a:r>
            <a:endParaRPr lang="en-US" sz="1500" dirty="0"/>
          </a:p>
        </p:txBody>
      </p:sp>
      <p:sp>
        <p:nvSpPr>
          <p:cNvPr id="31" name="Text 25"/>
          <p:cNvSpPr/>
          <p:nvPr/>
        </p:nvSpPr>
        <p:spPr>
          <a:xfrm>
            <a:off x="1022350" y="4481513"/>
            <a:ext cx="1246188" cy="314920"/>
          </a:xfrm>
          <a:prstGeom prst="roundRect">
            <a:avLst>
              <a:gd name="adj" fmla="val 48393"/>
            </a:avLst>
          </a:prstGeom>
          <a:solidFill>
            <a:srgbClr val="E4EFEE"/>
          </a:solidFill>
          <a:ln/>
        </p:spPr>
        <p:txBody>
          <a:bodyPr wrap="none" lIns="0" tIns="0" rIns="0" bIns="0" rtlCol="0" anchor="ctr">
            <a:normAutofit/>
          </a:bodyPr>
          <a:lstStyle/>
          <a:p>
            <a:pPr algn="ctr"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trees: 50–600</a:t>
            </a:r>
            <a:endParaRPr lang="en-US" sz="1200" dirty="0"/>
          </a:p>
        </p:txBody>
      </p:sp>
      <p:sp>
        <p:nvSpPr>
          <p:cNvPr id="32" name="Text 26"/>
          <p:cNvSpPr/>
          <p:nvPr/>
        </p:nvSpPr>
        <p:spPr>
          <a:xfrm>
            <a:off x="2344738" y="4481513"/>
            <a:ext cx="1600002" cy="314920"/>
          </a:xfrm>
          <a:prstGeom prst="roundRect">
            <a:avLst>
              <a:gd name="adj" fmla="val 48393"/>
            </a:avLst>
          </a:prstGeom>
          <a:solidFill>
            <a:srgbClr val="E4EFEE"/>
          </a:solidFill>
          <a:ln/>
        </p:spPr>
        <p:txBody>
          <a:bodyPr wrap="none" lIns="0" tIns="0" rIns="0" bIns="0" rtlCol="0" anchor="ctr">
            <a:normAutofit/>
          </a:bodyPr>
          <a:lstStyle/>
          <a:p>
            <a:pPr algn="ctr"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max depth: 4–none</a:t>
            </a:r>
            <a:endParaRPr lang="en-US" sz="1200" dirty="0"/>
          </a:p>
        </p:txBody>
      </p:sp>
      <p:sp>
        <p:nvSpPr>
          <p:cNvPr id="33" name="Text 27"/>
          <p:cNvSpPr/>
          <p:nvPr/>
        </p:nvSpPr>
        <p:spPr>
          <a:xfrm>
            <a:off x="4020939" y="4481513"/>
            <a:ext cx="1249462" cy="314920"/>
          </a:xfrm>
          <a:prstGeom prst="roundRect">
            <a:avLst>
              <a:gd name="adj" fmla="val 48393"/>
            </a:avLst>
          </a:prstGeom>
          <a:solidFill>
            <a:srgbClr val="E4EFEE"/>
          </a:solidFill>
          <a:ln/>
        </p:spPr>
        <p:txBody>
          <a:bodyPr wrap="none" lIns="0" tIns="0" rIns="0" bIns="0" rtlCol="0" anchor="ctr">
            <a:normAutofit/>
          </a:bodyPr>
          <a:lstStyle/>
          <a:p>
            <a:pPr algn="ctr"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min split: 2–10</a:t>
            </a:r>
            <a:endParaRPr lang="en-US" sz="1200" dirty="0"/>
          </a:p>
        </p:txBody>
      </p:sp>
      <p:sp>
        <p:nvSpPr>
          <p:cNvPr id="34" name="Text 28"/>
          <p:cNvSpPr/>
          <p:nvPr/>
        </p:nvSpPr>
        <p:spPr>
          <a:xfrm>
            <a:off x="5346601" y="4481513"/>
            <a:ext cx="1132185" cy="314920"/>
          </a:xfrm>
          <a:prstGeom prst="roundRect">
            <a:avLst>
              <a:gd name="adj" fmla="val 48393"/>
            </a:avLst>
          </a:prstGeom>
          <a:solidFill>
            <a:srgbClr val="E4EFEE"/>
          </a:solidFill>
          <a:ln/>
        </p:spPr>
        <p:txBody>
          <a:bodyPr wrap="none" lIns="0" tIns="0" rIns="0" bIns="0" rtlCol="0" anchor="ctr">
            <a:normAutofit/>
          </a:bodyPr>
          <a:lstStyle/>
          <a:p>
            <a:pPr algn="ctr"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min leaf: 1–4</a:t>
            </a:r>
            <a:endParaRPr lang="en-US" sz="1200" dirty="0"/>
          </a:p>
        </p:txBody>
      </p:sp>
      <p:sp>
        <p:nvSpPr>
          <p:cNvPr id="35" name="Text 29"/>
          <p:cNvSpPr/>
          <p:nvPr/>
        </p:nvSpPr>
        <p:spPr>
          <a:xfrm>
            <a:off x="1022350" y="4872633"/>
            <a:ext cx="1186160" cy="314920"/>
          </a:xfrm>
          <a:prstGeom prst="roundRect">
            <a:avLst>
              <a:gd name="adj" fmla="val 48393"/>
            </a:avLst>
          </a:prstGeom>
          <a:solidFill>
            <a:srgbClr val="E4EFEE"/>
          </a:solidFill>
          <a:ln/>
        </p:spPr>
        <p:txBody>
          <a:bodyPr wrap="none" lIns="0" tIns="0" rIns="0" bIns="0" rtlCol="0" anchor="ctr">
            <a:normAutofit/>
          </a:bodyPr>
          <a:lstStyle/>
          <a:p>
            <a:pPr algn="ctr"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max features</a:t>
            </a:r>
            <a:endParaRPr lang="en-US" sz="1200" dirty="0"/>
          </a:p>
        </p:txBody>
      </p:sp>
      <p:sp>
        <p:nvSpPr>
          <p:cNvPr id="36" name="Text 30"/>
          <p:cNvSpPr/>
          <p:nvPr/>
        </p:nvSpPr>
        <p:spPr>
          <a:xfrm>
            <a:off x="2284710" y="4872633"/>
            <a:ext cx="1134170" cy="314920"/>
          </a:xfrm>
          <a:prstGeom prst="roundRect">
            <a:avLst>
              <a:gd name="adj" fmla="val 48393"/>
            </a:avLst>
          </a:prstGeom>
          <a:solidFill>
            <a:srgbClr val="E4EFEE"/>
          </a:solidFill>
          <a:ln/>
        </p:spPr>
        <p:txBody>
          <a:bodyPr wrap="none" lIns="0" tIns="0" rIns="0" bIns="0" rtlCol="0" anchor="ctr">
            <a:normAutofit/>
          </a:bodyPr>
          <a:lstStyle/>
          <a:p>
            <a:pPr algn="ctr" indent="0" marL="0">
              <a:lnSpc>
                <a:spcPts val="1680"/>
              </a:lnSpc>
              <a:buNone/>
            </a:pPr>
            <a:r>
              <a:rPr lang="en-US" sz="1200" dirty="0">
                <a:solidFill>
                  <a:srgbClr val="17323A"/>
                </a:solidFill>
                <a:latin typeface="Public Sans" pitchFamily="34" charset="0"/>
                <a:ea typeface="Public Sans" pitchFamily="34" charset="-122"/>
                <a:cs typeface="Public Sans" pitchFamily="34" charset="-120"/>
              </a:rPr>
              <a:t>class weight</a:t>
            </a:r>
            <a:endParaRPr lang="en-US" sz="1200" dirty="0"/>
          </a:p>
        </p:txBody>
      </p:sp>
      <p:sp>
        <p:nvSpPr>
          <p:cNvPr id="37" name="Shape 31"/>
          <p:cNvSpPr/>
          <p:nvPr/>
        </p:nvSpPr>
        <p:spPr>
          <a:xfrm>
            <a:off x="7153275" y="3944937"/>
            <a:ext cx="4222750" cy="1448991"/>
          </a:xfrm>
          <a:prstGeom prst="roundRect">
            <a:avLst>
              <a:gd name="adj" fmla="val 6793"/>
            </a:avLst>
          </a:prstGeom>
          <a:solidFill>
            <a:srgbClr val="FFFDF9"/>
          </a:solidFill>
          <a:ln w="6350">
            <a:solidFill>
              <a:srgbClr val="DCE3E0"/>
            </a:solidFill>
            <a:prstDash val="solid"/>
          </a:ln>
        </p:spPr>
      </p:sp>
      <p:sp>
        <p:nvSpPr>
          <p:cNvPr id="38" name="Text 32"/>
          <p:cNvSpPr/>
          <p:nvPr/>
        </p:nvSpPr>
        <p:spPr>
          <a:xfrm>
            <a:off x="7359650" y="4151313"/>
            <a:ext cx="3924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A fair test</a:t>
            </a:r>
            <a:endParaRPr lang="en-US" sz="1500" dirty="0"/>
          </a:p>
        </p:txBody>
      </p:sp>
      <p:sp>
        <p:nvSpPr>
          <p:cNvPr id="39" name="Text 33"/>
          <p:cNvSpPr/>
          <p:nvPr/>
        </p:nvSpPr>
        <p:spPr>
          <a:xfrm>
            <a:off x="7359650" y="4456113"/>
            <a:ext cx="39243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5157"/>
                </a:solidFill>
                <a:latin typeface="Public Sans" pitchFamily="34" charset="0"/>
                <a:ea typeface="Public Sans" pitchFamily="34" charset="-122"/>
                <a:cs typeface="Public Sans" pitchFamily="34" charset="-120"/>
              </a:rPr>
              <a:t>6,720 possible combinations. The GA tried only </a:t>
            </a:r>
            <a:r>
              <a:rPr lang="en-US" sz="1300" b="1" dirty="0">
                <a:solidFill>
                  <a:srgbClr val="3F5157"/>
                </a:solidFill>
                <a:latin typeface="Public Sans" pitchFamily="34" charset="0"/>
                <a:ea typeface="Public Sans" pitchFamily="34" charset="-122"/>
                <a:cs typeface="Public Sans" pitchFamily="34" charset="-120"/>
              </a:rPr>
              <a:t>97</a:t>
            </a:r>
            <a:r>
              <a:rPr lang="en-US" sz="1300" dirty="0">
                <a:solidFill>
                  <a:srgbClr val="3F5157"/>
                </a:solidFill>
                <a:latin typeface="Public Sans" pitchFamily="34" charset="0"/>
                <a:ea typeface="Public Sans" pitchFamily="34" charset="-122"/>
                <a:cs typeface="Public Sans" pitchFamily="34" charset="-120"/>
              </a:rPr>
              <a:t>. Rival: Random Search with the same 97 tries.</a:t>
            </a:r>
            <a:endParaRPr lang="en-US" sz="1300" dirty="0"/>
          </a:p>
        </p:txBody>
      </p:sp>
      <p:sp>
        <p:nvSpPr>
          <p:cNvPr id="40" name="Text 3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Built with PyGAD 3.3.1 · Notebook 02</a:t>
            </a:r>
            <a:endParaRPr lang="en-US" sz="1200" dirty="0"/>
          </a:p>
        </p:txBody>
      </p:sp>
      <p:sp>
        <p:nvSpPr>
          <p:cNvPr id="41" name="Text 35"/>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Diana · 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32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44C"/>
                </a:solidFill>
                <a:latin typeface="Public Sans" pitchFamily="34" charset="0"/>
                <a:ea typeface="Public Sans" pitchFamily="34" charset="-122"/>
                <a:cs typeface="Public Sans" pitchFamily="34" charset="-120"/>
              </a:rPr>
              <a:t>MEMBER 2 · DIANA · OPTIMIZATION 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EFE8"/>
                </a:solidFill>
                <a:latin typeface="Rubik" pitchFamily="34" charset="0"/>
                <a:ea typeface="Rubik" pitchFamily="34" charset="-122"/>
                <a:cs typeface="Rubik" pitchFamily="34" charset="-120"/>
              </a:rPr>
              <a:t>Result: a technical tie</a:t>
            </a:r>
            <a:endParaRPr lang="en-US" sz="3200" dirty="0"/>
          </a:p>
        </p:txBody>
      </p:sp>
      <p:sp>
        <p:nvSpPr>
          <p:cNvPr id="4" name="Text 2"/>
          <p:cNvSpPr/>
          <p:nvPr/>
        </p:nvSpPr>
        <p:spPr>
          <a:xfrm>
            <a:off x="812800" y="177790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Public Sans" pitchFamily="34" charset="0"/>
                <a:ea typeface="Public Sans" pitchFamily="34" charset="-122"/>
                <a:cs typeface="Public Sans" pitchFamily="34" charset="-120"/>
              </a:rPr>
              <a:t>Best F1 during the search</a:t>
            </a:r>
            <a:r>
              <a:rPr lang="en-US" sz="1300" dirty="0">
                <a:solidFill>
                  <a:srgbClr val="F2EFE8"/>
                </a:solidFill>
                <a:latin typeface="Public Sans" pitchFamily="34" charset="0"/>
                <a:ea typeface="Public Sans" pitchFamily="34" charset="-122"/>
                <a:cs typeface="Public Sans" pitchFamily="34" charset="-120"/>
              </a:rPr>
              <a:t> (the same 5 folds)</a:t>
            </a:r>
            <a:endParaRPr lang="en-US" sz="1300" dirty="0"/>
          </a:p>
        </p:txBody>
      </p:sp>
      <p:sp>
        <p:nvSpPr>
          <p:cNvPr id="5" name="Shape 3"/>
          <p:cNvSpPr/>
          <p:nvPr/>
        </p:nvSpPr>
        <p:spPr>
          <a:xfrm>
            <a:off x="812800" y="2097881"/>
            <a:ext cx="3420467" cy="1074341"/>
          </a:xfrm>
          <a:prstGeom prst="roundRect">
            <a:avLst>
              <a:gd name="adj" fmla="val 9457"/>
            </a:avLst>
          </a:prstGeom>
          <a:solidFill>
            <a:srgbClr val="1F4049"/>
          </a:solidFill>
          <a:ln/>
        </p:spPr>
      </p:sp>
      <p:sp>
        <p:nvSpPr>
          <p:cNvPr id="6" name="Text 4"/>
          <p:cNvSpPr/>
          <p:nvPr/>
        </p:nvSpPr>
        <p:spPr>
          <a:xfrm>
            <a:off x="990600" y="2224881"/>
            <a:ext cx="315681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EFE8"/>
                </a:solidFill>
                <a:latin typeface="Rubik" pitchFamily="34" charset="0"/>
                <a:ea typeface="Rubik" pitchFamily="34" charset="-122"/>
                <a:cs typeface="Rubik" pitchFamily="34" charset="-120"/>
              </a:rPr>
              <a:t>0.832</a:t>
            </a:r>
            <a:endParaRPr lang="en-US" sz="3200" dirty="0"/>
          </a:p>
        </p:txBody>
      </p:sp>
      <p:sp>
        <p:nvSpPr>
          <p:cNvPr id="7" name="Text 5"/>
          <p:cNvSpPr/>
          <p:nvPr/>
        </p:nvSpPr>
        <p:spPr>
          <a:xfrm>
            <a:off x="990600" y="2831902"/>
            <a:ext cx="31568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Initial Random Forest</a:t>
            </a:r>
            <a:endParaRPr lang="en-US" sz="1200" dirty="0"/>
          </a:p>
        </p:txBody>
      </p:sp>
      <p:sp>
        <p:nvSpPr>
          <p:cNvPr id="8" name="Shape 6"/>
          <p:cNvSpPr/>
          <p:nvPr/>
        </p:nvSpPr>
        <p:spPr>
          <a:xfrm>
            <a:off x="4385667" y="2097881"/>
            <a:ext cx="3420566" cy="1074341"/>
          </a:xfrm>
          <a:prstGeom prst="roundRect">
            <a:avLst>
              <a:gd name="adj" fmla="val 9457"/>
            </a:avLst>
          </a:prstGeom>
          <a:solidFill>
            <a:srgbClr val="1F4049"/>
          </a:solidFill>
          <a:ln/>
        </p:spPr>
      </p:sp>
      <p:sp>
        <p:nvSpPr>
          <p:cNvPr id="9" name="Text 7"/>
          <p:cNvSpPr/>
          <p:nvPr/>
        </p:nvSpPr>
        <p:spPr>
          <a:xfrm>
            <a:off x="4563467" y="2224881"/>
            <a:ext cx="315691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E9B44C"/>
                </a:solidFill>
                <a:latin typeface="Rubik" pitchFamily="34" charset="0"/>
                <a:ea typeface="Rubik" pitchFamily="34" charset="-122"/>
                <a:cs typeface="Rubik" pitchFamily="34" charset="-120"/>
              </a:rPr>
              <a:t>0.838</a:t>
            </a:r>
            <a:endParaRPr lang="en-US" sz="3200" dirty="0"/>
          </a:p>
        </p:txBody>
      </p:sp>
      <p:sp>
        <p:nvSpPr>
          <p:cNvPr id="10" name="Text 8"/>
          <p:cNvSpPr/>
          <p:nvPr/>
        </p:nvSpPr>
        <p:spPr>
          <a:xfrm>
            <a:off x="4563467" y="2831902"/>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Genetic algorithm</a:t>
            </a:r>
            <a:endParaRPr lang="en-US" sz="1200" dirty="0"/>
          </a:p>
        </p:txBody>
      </p:sp>
      <p:sp>
        <p:nvSpPr>
          <p:cNvPr id="11" name="Shape 9"/>
          <p:cNvSpPr/>
          <p:nvPr/>
        </p:nvSpPr>
        <p:spPr>
          <a:xfrm>
            <a:off x="7958634" y="2097881"/>
            <a:ext cx="3420566" cy="1074341"/>
          </a:xfrm>
          <a:prstGeom prst="roundRect">
            <a:avLst>
              <a:gd name="adj" fmla="val 9457"/>
            </a:avLst>
          </a:prstGeom>
          <a:solidFill>
            <a:srgbClr val="1F4049"/>
          </a:solidFill>
          <a:ln/>
        </p:spPr>
      </p:sp>
      <p:sp>
        <p:nvSpPr>
          <p:cNvPr id="12" name="Text 10"/>
          <p:cNvSpPr/>
          <p:nvPr/>
        </p:nvSpPr>
        <p:spPr>
          <a:xfrm>
            <a:off x="8136434" y="2224881"/>
            <a:ext cx="315691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EFE8"/>
                </a:solidFill>
                <a:latin typeface="Rubik" pitchFamily="34" charset="0"/>
                <a:ea typeface="Rubik" pitchFamily="34" charset="-122"/>
                <a:cs typeface="Rubik" pitchFamily="34" charset="-120"/>
              </a:rPr>
              <a:t>0.842</a:t>
            </a:r>
            <a:endParaRPr lang="en-US" sz="3200" dirty="0"/>
          </a:p>
        </p:txBody>
      </p:sp>
      <p:sp>
        <p:nvSpPr>
          <p:cNvPr id="13" name="Text 11"/>
          <p:cNvSpPr/>
          <p:nvPr/>
        </p:nvSpPr>
        <p:spPr>
          <a:xfrm>
            <a:off x="8136434" y="2831902"/>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Random search</a:t>
            </a:r>
            <a:endParaRPr lang="en-US" sz="1200" dirty="0"/>
          </a:p>
        </p:txBody>
      </p:sp>
      <p:sp>
        <p:nvSpPr>
          <p:cNvPr id="14" name="Text 12"/>
          <p:cNvSpPr/>
          <p:nvPr/>
        </p:nvSpPr>
        <p:spPr>
          <a:xfrm>
            <a:off x="812800" y="340082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Public Sans" pitchFamily="34" charset="0"/>
                <a:ea typeface="Public Sans" pitchFamily="34" charset="-122"/>
                <a:cs typeface="Public Sans" pitchFamily="34" charset="-120"/>
              </a:rPr>
              <a:t>Checked again on 15 new data splits</a:t>
            </a:r>
            <a:endParaRPr lang="en-US" sz="1300" dirty="0"/>
          </a:p>
        </p:txBody>
      </p:sp>
      <p:sp>
        <p:nvSpPr>
          <p:cNvPr id="15" name="Shape 13"/>
          <p:cNvSpPr/>
          <p:nvPr/>
        </p:nvSpPr>
        <p:spPr>
          <a:xfrm>
            <a:off x="812800" y="3720802"/>
            <a:ext cx="3420467" cy="1074341"/>
          </a:xfrm>
          <a:prstGeom prst="roundRect">
            <a:avLst>
              <a:gd name="adj" fmla="val 9457"/>
            </a:avLst>
          </a:prstGeom>
          <a:solidFill>
            <a:srgbClr val="1F4049"/>
          </a:solidFill>
          <a:ln/>
        </p:spPr>
      </p:sp>
      <p:sp>
        <p:nvSpPr>
          <p:cNvPr id="16" name="Text 14"/>
          <p:cNvSpPr/>
          <p:nvPr/>
        </p:nvSpPr>
        <p:spPr>
          <a:xfrm>
            <a:off x="990600" y="3847802"/>
            <a:ext cx="315681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EFE8"/>
                </a:solidFill>
                <a:latin typeface="Rubik" pitchFamily="34" charset="0"/>
                <a:ea typeface="Rubik" pitchFamily="34" charset="-122"/>
                <a:cs typeface="Rubik" pitchFamily="34" charset="-120"/>
              </a:rPr>
              <a:t>0.824</a:t>
            </a:r>
            <a:endParaRPr lang="en-US" sz="3200" dirty="0"/>
          </a:p>
        </p:txBody>
      </p:sp>
      <p:sp>
        <p:nvSpPr>
          <p:cNvPr id="17" name="Text 15"/>
          <p:cNvSpPr/>
          <p:nvPr/>
        </p:nvSpPr>
        <p:spPr>
          <a:xfrm>
            <a:off x="990600" y="4454823"/>
            <a:ext cx="31568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Initial Random Forest</a:t>
            </a:r>
            <a:endParaRPr lang="en-US" sz="1200" dirty="0"/>
          </a:p>
        </p:txBody>
      </p:sp>
      <p:sp>
        <p:nvSpPr>
          <p:cNvPr id="18" name="Shape 16"/>
          <p:cNvSpPr/>
          <p:nvPr/>
        </p:nvSpPr>
        <p:spPr>
          <a:xfrm>
            <a:off x="4385667" y="3720802"/>
            <a:ext cx="3420566" cy="1074341"/>
          </a:xfrm>
          <a:prstGeom prst="roundRect">
            <a:avLst>
              <a:gd name="adj" fmla="val 9457"/>
            </a:avLst>
          </a:prstGeom>
          <a:solidFill>
            <a:srgbClr val="1F4049"/>
          </a:solidFill>
          <a:ln/>
        </p:spPr>
      </p:sp>
      <p:sp>
        <p:nvSpPr>
          <p:cNvPr id="19" name="Text 17"/>
          <p:cNvSpPr/>
          <p:nvPr/>
        </p:nvSpPr>
        <p:spPr>
          <a:xfrm>
            <a:off x="4563467" y="3847802"/>
            <a:ext cx="315691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E9B44C"/>
                </a:solidFill>
                <a:latin typeface="Rubik" pitchFamily="34" charset="0"/>
                <a:ea typeface="Rubik" pitchFamily="34" charset="-122"/>
                <a:cs typeface="Rubik" pitchFamily="34" charset="-120"/>
              </a:rPr>
              <a:t>0.821</a:t>
            </a:r>
            <a:endParaRPr lang="en-US" sz="3200" dirty="0"/>
          </a:p>
        </p:txBody>
      </p:sp>
      <p:sp>
        <p:nvSpPr>
          <p:cNvPr id="20" name="Text 18"/>
          <p:cNvSpPr/>
          <p:nvPr/>
        </p:nvSpPr>
        <p:spPr>
          <a:xfrm>
            <a:off x="4563467" y="4454823"/>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Genetic algorithm</a:t>
            </a:r>
            <a:endParaRPr lang="en-US" sz="1200" dirty="0"/>
          </a:p>
        </p:txBody>
      </p:sp>
      <p:sp>
        <p:nvSpPr>
          <p:cNvPr id="21" name="Shape 19"/>
          <p:cNvSpPr/>
          <p:nvPr/>
        </p:nvSpPr>
        <p:spPr>
          <a:xfrm>
            <a:off x="7958634" y="3720802"/>
            <a:ext cx="3420566" cy="1074341"/>
          </a:xfrm>
          <a:prstGeom prst="roundRect">
            <a:avLst>
              <a:gd name="adj" fmla="val 9457"/>
            </a:avLst>
          </a:prstGeom>
          <a:solidFill>
            <a:srgbClr val="1F4049"/>
          </a:solidFill>
          <a:ln/>
        </p:spPr>
      </p:sp>
      <p:sp>
        <p:nvSpPr>
          <p:cNvPr id="22" name="Text 20"/>
          <p:cNvSpPr/>
          <p:nvPr/>
        </p:nvSpPr>
        <p:spPr>
          <a:xfrm>
            <a:off x="8136434" y="3847802"/>
            <a:ext cx="315691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EFE8"/>
                </a:solidFill>
                <a:latin typeface="Rubik" pitchFamily="34" charset="0"/>
                <a:ea typeface="Rubik" pitchFamily="34" charset="-122"/>
                <a:cs typeface="Rubik" pitchFamily="34" charset="-120"/>
              </a:rPr>
              <a:t>0.827</a:t>
            </a:r>
            <a:endParaRPr lang="en-US" sz="3200" dirty="0"/>
          </a:p>
        </p:txBody>
      </p:sp>
      <p:sp>
        <p:nvSpPr>
          <p:cNvPr id="23" name="Text 21"/>
          <p:cNvSpPr/>
          <p:nvPr/>
        </p:nvSpPr>
        <p:spPr>
          <a:xfrm>
            <a:off x="8136434" y="4454823"/>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Public Sans" pitchFamily="34" charset="0"/>
                <a:ea typeface="Public Sans" pitchFamily="34" charset="-122"/>
                <a:cs typeface="Public Sans" pitchFamily="34" charset="-120"/>
              </a:rPr>
              <a:t>Random search</a:t>
            </a:r>
            <a:endParaRPr lang="en-US" sz="1200" dirty="0"/>
          </a:p>
        </p:txBody>
      </p:sp>
      <p:sp>
        <p:nvSpPr>
          <p:cNvPr id="24" name="Text 22"/>
          <p:cNvSpPr/>
          <p:nvPr/>
        </p:nvSpPr>
        <p:spPr>
          <a:xfrm>
            <a:off x="812800" y="5023743"/>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Public Sans" pitchFamily="34" charset="0"/>
                <a:ea typeface="Public Sans" pitchFamily="34" charset="-122"/>
                <a:cs typeface="Public Sans" pitchFamily="34" charset="-120"/>
              </a:rPr>
              <a:t>The differences (about 0.01) are smaller than the normal variation (about 0.02). The small “gain” was selection bias. </a:t>
            </a:r>
            <a:r>
              <a:rPr lang="en-US" sz="1400" b="1" dirty="0">
                <a:solidFill>
                  <a:srgbClr val="F2EFE8"/>
                </a:solidFill>
                <a:latin typeface="Public Sans" pitchFamily="34" charset="0"/>
                <a:ea typeface="Public Sans" pitchFamily="34" charset="-122"/>
                <a:cs typeface="Public Sans" pitchFamily="34" charset="-120"/>
              </a:rPr>
              <a:t>We kept the simpler 150-tree model:</a:t>
            </a:r>
            <a:r>
              <a:rPr lang="en-US" sz="1400" dirty="0">
                <a:solidFill>
                  <a:srgbClr val="F2EFE8"/>
                </a:solidFill>
                <a:latin typeface="Public Sans" pitchFamily="34" charset="0"/>
                <a:ea typeface="Public Sans" pitchFamily="34" charset="-122"/>
                <a:cs typeface="Public Sans" pitchFamily="34" charset="-120"/>
              </a:rPr>
              <a:t> same F1, the best high-risk recall (0.885) and 3× fewer trees.</a:t>
            </a:r>
            <a:endParaRPr lang="en-US" sz="14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CB8"/>
                </a:solidFill>
                <a:latin typeface="Public Sans" pitchFamily="34" charset="0"/>
                <a:ea typeface="Public Sans" pitchFamily="34" charset="-122"/>
                <a:cs typeface="Public Sans" pitchFamily="34" charset="-120"/>
              </a:rPr>
              <a:t>Repeated stratified 5-fold × 3, seed 2026 · Notebook 02</a:t>
            </a:r>
            <a:endParaRPr lang="en-US" sz="1200" dirty="0"/>
          </a:p>
        </p:txBody>
      </p:sp>
      <p:sp>
        <p:nvSpPr>
          <p:cNvPr id="26" name="Text 24"/>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CB8"/>
                </a:solidFill>
                <a:latin typeface="Public Sans" pitchFamily="34" charset="0"/>
                <a:ea typeface="Public Sans" pitchFamily="34" charset="-122"/>
                <a:cs typeface="Public Sans" pitchFamily="34" charset="-120"/>
              </a:rPr>
              <a:t>Diana · 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3 · SAID · PHASE IV</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Final model: Random Forest, tested once</a:t>
            </a:r>
            <a:endParaRPr lang="en-US" sz="3200" dirty="0"/>
          </a:p>
        </p:txBody>
      </p:sp>
      <p:sp>
        <p:nvSpPr>
          <p:cNvPr id="4" name="Shape 2"/>
          <p:cNvSpPr/>
          <p:nvPr/>
        </p:nvSpPr>
        <p:spPr>
          <a:xfrm>
            <a:off x="815975" y="1806476"/>
            <a:ext cx="5778897" cy="2725539"/>
          </a:xfrm>
          <a:prstGeom prst="roundRect">
            <a:avLst>
              <a:gd name="adj" fmla="val 3611"/>
            </a:avLst>
          </a:prstGeom>
          <a:solidFill>
            <a:srgbClr val="FFFDF9"/>
          </a:solidFill>
          <a:ln w="6350">
            <a:solidFill>
              <a:srgbClr val="DCE3E0"/>
            </a:solidFill>
            <a:prstDash val="solid"/>
          </a:ln>
        </p:spPr>
      </p:sp>
      <p:sp>
        <p:nvSpPr>
          <p:cNvPr id="5" name="Text 3"/>
          <p:cNvSpPr/>
          <p:nvPr/>
        </p:nvSpPr>
        <p:spPr>
          <a:xfrm>
            <a:off x="1073150" y="2063651"/>
            <a:ext cx="54224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Confusion matrix · test set (203 women)</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5850" y="2406551"/>
          <a:ext cx="5251847" cy="1543844"/>
        </p:xfrm>
        <a:graphic>
          <a:graphicData uri="http://schemas.openxmlformats.org/drawingml/2006/table">
            <a:tbl>
              <a:tblPr/>
              <a:tblGrid>
                <a:gridCol w="1785628"/>
                <a:gridCol w="1155406"/>
                <a:gridCol w="1155406"/>
                <a:gridCol w="1155406"/>
              </a:tblGrid>
              <a:tr h="385961">
                <a:tc>
                  <a:txBody>
                    <a:bodyPr/>
                    <a:lstStyle/>
                    <a:p>
                      <a:pPr indent="0" marL="0">
                        <a:lnSpc>
                          <a:spcPts val="1960"/>
                        </a:lnSpc>
                        <a:buNone/>
                      </a:pPr>
                      <a:r>
                        <a:rPr lang="en-US" sz="1400" b="1" dirty="0">
                          <a:solidFill>
                            <a:srgbClr val="3F5157"/>
                          </a:solidFill>
                          <a:latin typeface="Public Sans" pitchFamily="34" charset="0"/>
                          <a:ea typeface="Public Sans" pitchFamily="34" charset="-122"/>
                          <a:cs typeface="Public Sans" pitchFamily="34" charset="-120"/>
                        </a:rPr>
                        <a:t>Real \ Predicted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algn="ctr" indent="0" marL="0">
                        <a:lnSpc>
                          <a:spcPts val="1960"/>
                        </a:lnSpc>
                        <a:buNone/>
                      </a:pPr>
                      <a:r>
                        <a:rPr lang="en-US" sz="1400" b="1" dirty="0">
                          <a:solidFill>
                            <a:srgbClr val="3F5157"/>
                          </a:solidFill>
                          <a:latin typeface="Public Sans" pitchFamily="34" charset="0"/>
                          <a:ea typeface="Public Sans" pitchFamily="34" charset="-122"/>
                          <a:cs typeface="Public Sans" pitchFamily="34" charset="-120"/>
                        </a:rPr>
                        <a:t>Low</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algn="ctr" indent="0" marL="0">
                        <a:lnSpc>
                          <a:spcPts val="1960"/>
                        </a:lnSpc>
                        <a:buNone/>
                      </a:pPr>
                      <a:r>
                        <a:rPr lang="en-US" sz="1400" b="1" dirty="0">
                          <a:solidFill>
                            <a:srgbClr val="3F5157"/>
                          </a:solidFill>
                          <a:latin typeface="Public Sans" pitchFamily="34" charset="0"/>
                          <a:ea typeface="Public Sans" pitchFamily="34" charset="-122"/>
                          <a:cs typeface="Public Sans" pitchFamily="34" charset="-120"/>
                        </a:rPr>
                        <a:t>Mid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algn="ctr" indent="0" marL="0">
                        <a:lnSpc>
                          <a:spcPts val="1960"/>
                        </a:lnSpc>
                        <a:buNone/>
                      </a:pPr>
                      <a:r>
                        <a:rPr lang="en-US" sz="1400" b="1" dirty="0">
                          <a:solidFill>
                            <a:srgbClr val="3F5157"/>
                          </a:solidFill>
                          <a:latin typeface="Public Sans" pitchFamily="34" charset="0"/>
                          <a:ea typeface="Public Sans" pitchFamily="34" charset="-122"/>
                          <a:cs typeface="Public Sans" pitchFamily="34" charset="-120"/>
                        </a:rPr>
                        <a:t>High</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r>
              <a:tr h="385961">
                <a:tc>
                  <a:txBody>
                    <a:bodyPr/>
                    <a:lstStyle/>
                    <a:p>
                      <a:pP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Low (81)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66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13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Mid (67)</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10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52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High (55)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6B8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6B8B2"/>
                      </a:solidFill>
                      <a:prstDash val="solid"/>
                      <a:round/>
                      <a:headEnd type="none" w="med" len="med"/>
                      <a:tailEnd type="none" w="med" len="med"/>
                    </a:lnB>
                    <a:solidFill>
                      <a:srgbClr val="F8E6DF"/>
                    </a:solidFill>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6B8B2"/>
                      </a:solidFill>
                      <a:prstDash val="solid"/>
                      <a:round/>
                      <a:headEnd type="none" w="med" len="med"/>
                      <a:tailEnd type="none" w="med" len="med"/>
                    </a:lnL>
                    <a:lnR w="12700" cap="flat" cmpd="sng" algn="ctr">
                      <a:solidFill>
                        <a:srgbClr val="C6B8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6B8B2"/>
                      </a:solidFill>
                      <a:prstDash val="solid"/>
                      <a:round/>
                      <a:headEnd type="none" w="med" len="med"/>
                      <a:tailEnd type="none" w="med" len="med"/>
                    </a:lnB>
                    <a:solidFill>
                      <a:srgbClr val="F8E6DF"/>
                    </a:solidFill>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6B8B2"/>
                      </a:solidFill>
                      <a:prstDash val="solid"/>
                      <a:round/>
                      <a:headEnd type="none" w="med" len="med"/>
                      <a:tailEnd type="none" w="med" len="med"/>
                    </a:lnL>
                    <a:lnR w="12700" cap="flat" cmpd="sng" algn="ctr">
                      <a:solidFill>
                        <a:srgbClr val="C6B8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6B8B2"/>
                      </a:solidFill>
                      <a:prstDash val="solid"/>
                      <a:round/>
                      <a:headEnd type="none" w="med" len="med"/>
                      <a:tailEnd type="none" w="med" len="med"/>
                    </a:lnB>
                    <a:solidFill>
                      <a:srgbClr val="F8E6DF"/>
                    </a:solidFill>
                  </a:tcPr>
                </a:tc>
                <a:tc>
                  <a:txBody>
                    <a:bodyPr/>
                    <a:lstStyle/>
                    <a:p>
                      <a:pPr algn="ctr" indent="0" marL="0">
                        <a:lnSpc>
                          <a:spcPts val="1960"/>
                        </a:lnSpc>
                        <a:buNone/>
                      </a:pPr>
                      <a:r>
                        <a:rPr lang="en-US" sz="1400" dirty="0">
                          <a:solidFill>
                            <a:srgbClr val="3F5157"/>
                          </a:solidFill>
                          <a:latin typeface="Public Sans" pitchFamily="34" charset="0"/>
                          <a:ea typeface="Public Sans" pitchFamily="34" charset="-122"/>
                          <a:cs typeface="Public Sans" pitchFamily="34" charset="-120"/>
                        </a:rPr>
                        <a:t>53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6B8B2"/>
                      </a:solidFill>
                      <a:prstDash val="solid"/>
                      <a:round/>
                      <a:headEnd type="none" w="med" len="med"/>
                      <a:tailEnd type="none" w="med" len="med"/>
                    </a:lnL>
                    <a:lnR w="12700" cap="flat" cmpd="sng" algn="ctr">
                      <a:solidFill>
                        <a:srgbClr val="C6B8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6B8B2"/>
                      </a:solidFill>
                      <a:prstDash val="solid"/>
                      <a:round/>
                      <a:headEnd type="none" w="med" len="med"/>
                      <a:tailEnd type="none" w="med" len="med"/>
                    </a:lnB>
                    <a:solidFill>
                      <a:srgbClr val="F8E6DF"/>
                    </a:solidFill>
                  </a:tcPr>
                </a:tc>
              </a:tr>
            </a:tbl>
          </a:graphicData>
        </a:graphic>
      </p:graphicFrame>
      <p:sp>
        <p:nvSpPr>
          <p:cNvPr id="7" name="Text 4"/>
          <p:cNvSpPr/>
          <p:nvPr/>
        </p:nvSpPr>
        <p:spPr>
          <a:xfrm>
            <a:off x="1073150" y="4051995"/>
            <a:ext cx="542248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5157"/>
                </a:solidFill>
                <a:latin typeface="Public Sans" pitchFamily="34" charset="0"/>
                <a:ea typeface="Public Sans" pitchFamily="34" charset="-122"/>
                <a:cs typeface="Public Sans" pitchFamily="34" charset="-120"/>
              </a:rPr>
              <a:t>Only </a:t>
            </a:r>
            <a:r>
              <a:rPr lang="en-US" sz="1300" b="1" dirty="0">
                <a:solidFill>
                  <a:srgbClr val="3F5157"/>
                </a:solidFill>
                <a:latin typeface="Public Sans" pitchFamily="34" charset="0"/>
                <a:ea typeface="Public Sans" pitchFamily="34" charset="-122"/>
                <a:cs typeface="Public Sans" pitchFamily="34" charset="-120"/>
              </a:rPr>
              <a:t>2 of 55</a:t>
            </a:r>
            <a:r>
              <a:rPr lang="en-US" sz="1300" dirty="0">
                <a:solidFill>
                  <a:srgbClr val="3F5157"/>
                </a:solidFill>
                <a:latin typeface="Public Sans" pitchFamily="34" charset="0"/>
                <a:ea typeface="Public Sans" pitchFamily="34" charset="-122"/>
                <a:cs typeface="Public Sans" pitchFamily="34" charset="-120"/>
              </a:rPr>
              <a:t> high-risk women were missed.</a:t>
            </a:r>
            <a:endParaRPr lang="en-US" sz="1300" dirty="0"/>
          </a:p>
        </p:txBody>
      </p:sp>
      <p:sp>
        <p:nvSpPr>
          <p:cNvPr id="8" name="Shape 5"/>
          <p:cNvSpPr/>
          <p:nvPr/>
        </p:nvSpPr>
        <p:spPr>
          <a:xfrm>
            <a:off x="6801247" y="1803301"/>
            <a:ext cx="2225477" cy="1302445"/>
          </a:xfrm>
          <a:prstGeom prst="roundRect">
            <a:avLst>
              <a:gd name="adj" fmla="val 7801"/>
            </a:avLst>
          </a:prstGeom>
          <a:solidFill>
            <a:srgbClr val="17323A"/>
          </a:solidFill>
          <a:ln/>
        </p:spPr>
      </p:sp>
      <p:sp>
        <p:nvSpPr>
          <p:cNvPr id="9" name="Text 6"/>
          <p:cNvSpPr/>
          <p:nvPr/>
        </p:nvSpPr>
        <p:spPr>
          <a:xfrm>
            <a:off x="6979047" y="1981101"/>
            <a:ext cx="192597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9B44C"/>
                </a:solidFill>
                <a:latin typeface="Rubik" pitchFamily="34" charset="0"/>
                <a:ea typeface="Rubik" pitchFamily="34" charset="-122"/>
                <a:cs typeface="Rubik" pitchFamily="34" charset="-120"/>
              </a:rPr>
              <a:t>0.96</a:t>
            </a:r>
            <a:endParaRPr lang="en-US" sz="3600" dirty="0"/>
          </a:p>
        </p:txBody>
      </p:sp>
      <p:sp>
        <p:nvSpPr>
          <p:cNvPr id="10" name="Text 7"/>
          <p:cNvSpPr/>
          <p:nvPr/>
        </p:nvSpPr>
        <p:spPr>
          <a:xfrm>
            <a:off x="6979047" y="2659261"/>
            <a:ext cx="19259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Public Sans" pitchFamily="34" charset="0"/>
                <a:ea typeface="Public Sans" pitchFamily="34" charset="-122"/>
                <a:cs typeface="Public Sans" pitchFamily="34" charset="-120"/>
              </a:rPr>
              <a:t>High-risk recall</a:t>
            </a:r>
            <a:endParaRPr lang="en-US" sz="1200" dirty="0"/>
          </a:p>
        </p:txBody>
      </p:sp>
      <p:sp>
        <p:nvSpPr>
          <p:cNvPr id="11" name="Shape 8"/>
          <p:cNvSpPr/>
          <p:nvPr/>
        </p:nvSpPr>
        <p:spPr>
          <a:xfrm>
            <a:off x="9156898" y="1806476"/>
            <a:ext cx="2219127" cy="1296095"/>
          </a:xfrm>
          <a:prstGeom prst="roundRect">
            <a:avLst>
              <a:gd name="adj" fmla="val 7594"/>
            </a:avLst>
          </a:prstGeom>
          <a:solidFill>
            <a:srgbClr val="FFFDF9"/>
          </a:solidFill>
          <a:ln w="6350">
            <a:solidFill>
              <a:srgbClr val="DCE3E0"/>
            </a:solidFill>
            <a:prstDash val="solid"/>
          </a:ln>
        </p:spPr>
      </p:sp>
      <p:sp>
        <p:nvSpPr>
          <p:cNvPr id="12" name="Text 9"/>
          <p:cNvSpPr/>
          <p:nvPr/>
        </p:nvSpPr>
        <p:spPr>
          <a:xfrm>
            <a:off x="9337873" y="1987451"/>
            <a:ext cx="191289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7323A"/>
                </a:solidFill>
                <a:latin typeface="Rubik" pitchFamily="34" charset="0"/>
                <a:ea typeface="Rubik" pitchFamily="34" charset="-122"/>
                <a:cs typeface="Rubik" pitchFamily="34" charset="-120"/>
              </a:rPr>
              <a:t>0.85</a:t>
            </a:r>
            <a:endParaRPr lang="en-US" sz="3600" dirty="0"/>
          </a:p>
        </p:txBody>
      </p:sp>
      <p:sp>
        <p:nvSpPr>
          <p:cNvPr id="13" name="Text 10"/>
          <p:cNvSpPr/>
          <p:nvPr/>
        </p:nvSpPr>
        <p:spPr>
          <a:xfrm>
            <a:off x="9337873" y="2665611"/>
            <a:ext cx="19128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F1-macro</a:t>
            </a:r>
            <a:endParaRPr lang="en-US" sz="1200" dirty="0"/>
          </a:p>
        </p:txBody>
      </p:sp>
      <p:sp>
        <p:nvSpPr>
          <p:cNvPr id="14" name="Shape 11"/>
          <p:cNvSpPr/>
          <p:nvPr/>
        </p:nvSpPr>
        <p:spPr>
          <a:xfrm>
            <a:off x="6804422" y="3235920"/>
            <a:ext cx="2219127" cy="1296095"/>
          </a:xfrm>
          <a:prstGeom prst="roundRect">
            <a:avLst>
              <a:gd name="adj" fmla="val 7594"/>
            </a:avLst>
          </a:prstGeom>
          <a:solidFill>
            <a:srgbClr val="FFFDF9"/>
          </a:solidFill>
          <a:ln w="6350">
            <a:solidFill>
              <a:srgbClr val="DCE3E0"/>
            </a:solidFill>
            <a:prstDash val="solid"/>
          </a:ln>
        </p:spPr>
      </p:sp>
      <p:sp>
        <p:nvSpPr>
          <p:cNvPr id="15" name="Text 12"/>
          <p:cNvSpPr/>
          <p:nvPr/>
        </p:nvSpPr>
        <p:spPr>
          <a:xfrm>
            <a:off x="6985397" y="3416895"/>
            <a:ext cx="191289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7323A"/>
                </a:solidFill>
                <a:latin typeface="Rubik" pitchFamily="34" charset="0"/>
                <a:ea typeface="Rubik" pitchFamily="34" charset="-122"/>
                <a:cs typeface="Rubik" pitchFamily="34" charset="-120"/>
              </a:rPr>
              <a:t>0.84</a:t>
            </a:r>
            <a:endParaRPr lang="en-US" sz="3600" dirty="0"/>
          </a:p>
        </p:txBody>
      </p:sp>
      <p:sp>
        <p:nvSpPr>
          <p:cNvPr id="16" name="Text 13"/>
          <p:cNvSpPr/>
          <p:nvPr/>
        </p:nvSpPr>
        <p:spPr>
          <a:xfrm>
            <a:off x="6985397" y="4095055"/>
            <a:ext cx="19128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Accuracy</a:t>
            </a:r>
            <a:endParaRPr lang="en-US" sz="1200" dirty="0"/>
          </a:p>
        </p:txBody>
      </p:sp>
      <p:sp>
        <p:nvSpPr>
          <p:cNvPr id="17" name="Shape 14"/>
          <p:cNvSpPr/>
          <p:nvPr/>
        </p:nvSpPr>
        <p:spPr>
          <a:xfrm>
            <a:off x="9156898" y="3235920"/>
            <a:ext cx="2219127" cy="1296095"/>
          </a:xfrm>
          <a:prstGeom prst="roundRect">
            <a:avLst>
              <a:gd name="adj" fmla="val 7594"/>
            </a:avLst>
          </a:prstGeom>
          <a:solidFill>
            <a:srgbClr val="FFFDF9"/>
          </a:solidFill>
          <a:ln w="6350">
            <a:solidFill>
              <a:srgbClr val="DCE3E0"/>
            </a:solidFill>
            <a:prstDash val="solid"/>
          </a:ln>
        </p:spPr>
      </p:sp>
      <p:sp>
        <p:nvSpPr>
          <p:cNvPr id="18" name="Text 15"/>
          <p:cNvSpPr/>
          <p:nvPr/>
        </p:nvSpPr>
        <p:spPr>
          <a:xfrm>
            <a:off x="9337873" y="3416895"/>
            <a:ext cx="191289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7323A"/>
                </a:solidFill>
                <a:latin typeface="Rubik" pitchFamily="34" charset="0"/>
                <a:ea typeface="Rubik" pitchFamily="34" charset="-122"/>
                <a:cs typeface="Rubik" pitchFamily="34" charset="-120"/>
              </a:rPr>
              <a:t>0.943</a:t>
            </a:r>
            <a:endParaRPr lang="en-US" sz="3600" dirty="0"/>
          </a:p>
        </p:txBody>
      </p:sp>
      <p:sp>
        <p:nvSpPr>
          <p:cNvPr id="19" name="Text 16"/>
          <p:cNvSpPr/>
          <p:nvPr/>
        </p:nvSpPr>
        <p:spPr>
          <a:xfrm>
            <a:off x="9337873" y="4095055"/>
            <a:ext cx="19128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ROC-AUC</a:t>
            </a:r>
            <a:endParaRPr lang="en-US" sz="1200" dirty="0"/>
          </a:p>
        </p:txBody>
      </p:sp>
      <p:pic>
        <p:nvPicPr>
          <p:cNvPr id="20" name="Image 0" descr="CheckCircle">    </p:cNvPr>
          <p:cNvPicPr>
            <a:picLocks noChangeAspect="1"/>
          </p:cNvPicPr>
          <p:nvPr/>
        </p:nvPicPr>
        <p:blipFill>
          <a:blip r:embed="rId1"/>
          <a:srcRect l="0" r="0" t="0" b="0"/>
          <a:stretch/>
        </p:blipFill>
        <p:spPr>
          <a:xfrm>
            <a:off x="812800" y="4789190"/>
            <a:ext cx="254000" cy="254000"/>
          </a:xfrm>
          <a:prstGeom prst="rect">
            <a:avLst/>
          </a:prstGeom>
        </p:spPr>
      </p:pic>
      <p:sp>
        <p:nvSpPr>
          <p:cNvPr id="21" name="Text 17"/>
          <p:cNvSpPr/>
          <p:nvPr/>
        </p:nvSpPr>
        <p:spPr>
          <a:xfrm>
            <a:off x="1219200" y="4800600"/>
            <a:ext cx="458936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Success criteria met:</a:t>
            </a:r>
            <a:r>
              <a:rPr lang="en-US" sz="1300" dirty="0">
                <a:solidFill>
                  <a:srgbClr val="17323A"/>
                </a:solidFill>
                <a:latin typeface="Public Sans" pitchFamily="34" charset="0"/>
                <a:ea typeface="Public Sans" pitchFamily="34" charset="-122"/>
                <a:cs typeface="Public Sans" pitchFamily="34" charset="-120"/>
              </a:rPr>
              <a:t> F1 ≥ 0.75 and high-risk recall ≥ 0.80.</a:t>
            </a:r>
            <a:endParaRPr lang="en-US" sz="1300" dirty="0"/>
          </a:p>
        </p:txBody>
      </p:sp>
      <p:sp>
        <p:nvSpPr>
          <p:cNvPr id="22" name="Text 18"/>
          <p:cNvSpPr/>
          <p:nvPr/>
        </p:nvSpPr>
        <p:spPr>
          <a:xfrm>
            <a:off x="5808563" y="4800600"/>
            <a:ext cx="48717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5157"/>
                </a:solidFill>
                <a:latin typeface="Public Sans" pitchFamily="34" charset="0"/>
                <a:ea typeface="Public Sans" pitchFamily="34" charset="-122"/>
                <a:cs typeface="Public Sans" pitchFamily="34" charset="-120"/>
              </a:rPr>
              <a:t>Top signal: blood sugar (37%), then systolic BP (19%).</a:t>
            </a:r>
            <a:endParaRPr lang="en-US" sz="1300" dirty="0"/>
          </a:p>
        </p:txBody>
      </p:sp>
      <p:sp>
        <p:nvSpPr>
          <p:cNvPr id="23"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src/train_final.py · 150 trees, max depth 12, balanced classes</a:t>
            </a:r>
            <a:endParaRPr lang="en-US" sz="1200" dirty="0"/>
          </a:p>
        </p:txBody>
      </p:sp>
      <p:sp>
        <p:nvSpPr>
          <p:cNvPr id="24" name="Text 20"/>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Said · 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3 · SAID · PROTOTYPE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The prototype: a Streamlit web app</a:t>
            </a:r>
            <a:endParaRPr lang="en-US" sz="3200" dirty="0"/>
          </a:p>
        </p:txBody>
      </p:sp>
      <p:sp>
        <p:nvSpPr>
          <p:cNvPr id="4" name="Text 2"/>
          <p:cNvSpPr/>
          <p:nvPr/>
        </p:nvSpPr>
        <p:spPr>
          <a:xfrm>
            <a:off x="815975" y="1781076"/>
            <a:ext cx="1743670" cy="877391"/>
          </a:xfrm>
          <a:prstGeom prst="roundRect">
            <a:avLst>
              <a:gd name="adj" fmla="val 8323"/>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620"/>
              </a:lnSpc>
              <a:buNone/>
            </a:pPr>
            <a:r>
              <a:rPr lang="en-US" sz="1200" b="1" dirty="0">
                <a:solidFill>
                  <a:srgbClr val="3F5157"/>
                </a:solidFill>
                <a:latin typeface="Public Sans" pitchFamily="34" charset="0"/>
                <a:ea typeface="Public Sans" pitchFamily="34" charset="-122"/>
                <a:cs typeface="Public Sans" pitchFamily="34" charset="-120"/>
              </a:rPr>
              <a:t>1. Enter</a:t>
            </a:r>
            <a:r>
              <a:rPr lang="en-US" sz="1200" dirty="0">
                <a:solidFill>
                  <a:srgbClr val="3F5157"/>
                </a:solidFill>
                <a:latin typeface="Public Sans" pitchFamily="34" charset="0"/>
                <a:ea typeface="Public Sans" pitchFamily="34" charset="-122"/>
                <a:cs typeface="Public Sans" pitchFamily="34" charset="-120"/>
              </a:rPr>
              <a:t> 6 vital signs (°C and mg/dL work too)</a:t>
            </a:r>
            <a:endParaRPr lang="en-US" sz="1200" dirty="0"/>
          </a:p>
        </p:txBody>
      </p:sp>
      <p:pic>
        <p:nvPicPr>
          <p:cNvPr id="5" name="Image 0" descr="arrow-right">    </p:cNvPr>
          <p:cNvPicPr>
            <a:picLocks noChangeAspect="1"/>
          </p:cNvPicPr>
          <p:nvPr/>
        </p:nvPicPr>
        <p:blipFill>
          <a:blip r:embed="rId1"/>
          <a:srcRect l="0" r="0" t="0" b="0"/>
          <a:stretch/>
        </p:blipFill>
        <p:spPr>
          <a:xfrm>
            <a:off x="2664420" y="2156222"/>
            <a:ext cx="254000" cy="127000"/>
          </a:xfrm>
          <a:prstGeom prst="rect">
            <a:avLst/>
          </a:prstGeom>
        </p:spPr>
      </p:pic>
      <p:sp>
        <p:nvSpPr>
          <p:cNvPr id="6" name="Text 3"/>
          <p:cNvSpPr/>
          <p:nvPr/>
        </p:nvSpPr>
        <p:spPr>
          <a:xfrm>
            <a:off x="3023195" y="1781076"/>
            <a:ext cx="1743770" cy="877391"/>
          </a:xfrm>
          <a:prstGeom prst="roundRect">
            <a:avLst>
              <a:gd name="adj" fmla="val 8323"/>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620"/>
              </a:lnSpc>
              <a:buNone/>
            </a:pPr>
            <a:r>
              <a:rPr lang="en-US" sz="1200" b="1" dirty="0">
                <a:solidFill>
                  <a:srgbClr val="3F5157"/>
                </a:solidFill>
                <a:latin typeface="Public Sans" pitchFamily="34" charset="0"/>
                <a:ea typeface="Public Sans" pitchFamily="34" charset="-122"/>
                <a:cs typeface="Public Sans" pitchFamily="34" charset="-120"/>
              </a:rPr>
              <a:t>2. Check</a:t>
            </a:r>
            <a:r>
              <a:rPr lang="en-US" sz="1200" dirty="0">
                <a:solidFill>
                  <a:srgbClr val="3F5157"/>
                </a:solidFill>
                <a:latin typeface="Public Sans" pitchFamily="34" charset="0"/>
                <a:ea typeface="Public Sans" pitchFamily="34" charset="-122"/>
                <a:cs typeface="Public Sans" pitchFamily="34" charset="-120"/>
              </a:rPr>
              <a:t> the values; block impossible data</a:t>
            </a:r>
            <a:endParaRPr lang="en-US" sz="1200" dirty="0"/>
          </a:p>
        </p:txBody>
      </p:sp>
      <p:pic>
        <p:nvPicPr>
          <p:cNvPr id="7" name="Image 1" descr="arrow-right">    </p:cNvPr>
          <p:cNvPicPr>
            <a:picLocks noChangeAspect="1"/>
          </p:cNvPicPr>
          <p:nvPr/>
        </p:nvPicPr>
        <p:blipFill>
          <a:blip r:embed="rId2"/>
          <a:srcRect l="0" r="0" t="0" b="0"/>
          <a:stretch/>
        </p:blipFill>
        <p:spPr>
          <a:xfrm>
            <a:off x="4871740" y="2156222"/>
            <a:ext cx="254000" cy="127000"/>
          </a:xfrm>
          <a:prstGeom prst="rect">
            <a:avLst/>
          </a:prstGeom>
        </p:spPr>
      </p:pic>
      <p:sp>
        <p:nvSpPr>
          <p:cNvPr id="8" name="Text 4"/>
          <p:cNvSpPr/>
          <p:nvPr/>
        </p:nvSpPr>
        <p:spPr>
          <a:xfrm>
            <a:off x="5230515" y="1781076"/>
            <a:ext cx="1743670" cy="877391"/>
          </a:xfrm>
          <a:prstGeom prst="roundRect">
            <a:avLst>
              <a:gd name="adj" fmla="val 8323"/>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620"/>
              </a:lnSpc>
              <a:buNone/>
            </a:pPr>
            <a:r>
              <a:rPr lang="en-US" sz="1200" b="1" dirty="0">
                <a:solidFill>
                  <a:srgbClr val="3F5157"/>
                </a:solidFill>
                <a:latin typeface="Public Sans" pitchFamily="34" charset="0"/>
                <a:ea typeface="Public Sans" pitchFamily="34" charset="-122"/>
                <a:cs typeface="Public Sans" pitchFamily="34" charset="-120"/>
              </a:rPr>
              <a:t>3. Predict</a:t>
            </a:r>
            <a:r>
              <a:rPr lang="en-US" sz="1200" dirty="0">
                <a:solidFill>
                  <a:srgbClr val="3F5157"/>
                </a:solidFill>
                <a:latin typeface="Public Sans" pitchFamily="34" charset="0"/>
                <a:ea typeface="Public Sans" pitchFamily="34" charset="-122"/>
                <a:cs typeface="Public Sans" pitchFamily="34" charset="-120"/>
              </a:rPr>
              <a:t> with the saved Random Forest</a:t>
            </a:r>
            <a:endParaRPr lang="en-US" sz="1200" dirty="0"/>
          </a:p>
        </p:txBody>
      </p:sp>
      <p:pic>
        <p:nvPicPr>
          <p:cNvPr id="9" name="Image 2" descr="arrow-right">    </p:cNvPr>
          <p:cNvPicPr>
            <a:picLocks noChangeAspect="1"/>
          </p:cNvPicPr>
          <p:nvPr/>
        </p:nvPicPr>
        <p:blipFill>
          <a:blip r:embed="rId3"/>
          <a:srcRect l="0" r="0" t="0" b="0"/>
          <a:stretch/>
        </p:blipFill>
        <p:spPr>
          <a:xfrm>
            <a:off x="7078960" y="2156222"/>
            <a:ext cx="254000" cy="127000"/>
          </a:xfrm>
          <a:prstGeom prst="rect">
            <a:avLst/>
          </a:prstGeom>
        </p:spPr>
      </p:pic>
      <p:sp>
        <p:nvSpPr>
          <p:cNvPr id="10" name="Text 5"/>
          <p:cNvSpPr/>
          <p:nvPr/>
        </p:nvSpPr>
        <p:spPr>
          <a:xfrm>
            <a:off x="7437735" y="1781076"/>
            <a:ext cx="1743770" cy="877391"/>
          </a:xfrm>
          <a:prstGeom prst="roundRect">
            <a:avLst>
              <a:gd name="adj" fmla="val 8323"/>
            </a:avLst>
          </a:prstGeom>
          <a:solidFill>
            <a:srgbClr val="FFFDF9"/>
          </a:solidFill>
          <a:ln w="6350">
            <a:solidFill>
              <a:srgbClr val="DCE3E0"/>
            </a:solidFill>
            <a:prstDash val="solid"/>
          </a:ln>
        </p:spPr>
        <p:txBody>
          <a:bodyPr wrap="square" lIns="134187" tIns="108787" rIns="83387" bIns="83387" rtlCol="0" anchor="t">
            <a:normAutofit/>
          </a:bodyPr>
          <a:lstStyle/>
          <a:p>
            <a:pPr algn="l" indent="0" marL="0">
              <a:lnSpc>
                <a:spcPts val="1620"/>
              </a:lnSpc>
              <a:buNone/>
            </a:pPr>
            <a:r>
              <a:rPr lang="en-US" sz="1200" b="1" dirty="0">
                <a:solidFill>
                  <a:srgbClr val="3F5157"/>
                </a:solidFill>
                <a:latin typeface="Public Sans" pitchFamily="34" charset="0"/>
                <a:ea typeface="Public Sans" pitchFamily="34" charset="-122"/>
                <a:cs typeface="Public Sans" pitchFamily="34" charset="-120"/>
              </a:rPr>
              <a:t>4. Show</a:t>
            </a:r>
            <a:r>
              <a:rPr lang="en-US" sz="1200" dirty="0">
                <a:solidFill>
                  <a:srgbClr val="3F5157"/>
                </a:solidFill>
                <a:latin typeface="Public Sans" pitchFamily="34" charset="0"/>
                <a:ea typeface="Public Sans" pitchFamily="34" charset="-122"/>
                <a:cs typeface="Public Sans" pitchFamily="34" charset="-120"/>
              </a:rPr>
              <a:t> risk, confidence and entropy</a:t>
            </a:r>
            <a:endParaRPr lang="en-US" sz="1200" dirty="0"/>
          </a:p>
        </p:txBody>
      </p:sp>
      <p:pic>
        <p:nvPicPr>
          <p:cNvPr id="11" name="Image 3" descr="arrow-right">    </p:cNvPr>
          <p:cNvPicPr>
            <a:picLocks noChangeAspect="1"/>
          </p:cNvPicPr>
          <p:nvPr/>
        </p:nvPicPr>
        <p:blipFill>
          <a:blip r:embed="rId4"/>
          <a:srcRect l="0" r="0" t="0" b="0"/>
          <a:stretch/>
        </p:blipFill>
        <p:spPr>
          <a:xfrm>
            <a:off x="9286280" y="2156222"/>
            <a:ext cx="254000" cy="127000"/>
          </a:xfrm>
          <a:prstGeom prst="rect">
            <a:avLst/>
          </a:prstGeom>
        </p:spPr>
      </p:pic>
      <p:sp>
        <p:nvSpPr>
          <p:cNvPr id="12" name="Text 6"/>
          <p:cNvSpPr/>
          <p:nvPr/>
        </p:nvSpPr>
        <p:spPr>
          <a:xfrm>
            <a:off x="9641880" y="1887041"/>
            <a:ext cx="1737320" cy="665361"/>
          </a:xfrm>
          <a:prstGeom prst="roundRect">
            <a:avLst>
              <a:gd name="adj" fmla="val 11452"/>
            </a:avLst>
          </a:prstGeom>
          <a:solidFill>
            <a:srgbClr val="17323A"/>
          </a:solidFill>
          <a:ln/>
        </p:spPr>
        <p:txBody>
          <a:bodyPr wrap="square" lIns="130082" tIns="104682" rIns="79282"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5. Alert</a:t>
            </a:r>
            <a:r>
              <a:rPr lang="en-US" sz="1200" dirty="0">
                <a:solidFill>
                  <a:srgbClr val="F2EFE8"/>
                </a:solidFill>
                <a:latin typeface="Public Sans" pitchFamily="34" charset="0"/>
                <a:ea typeface="Public Sans" pitchFamily="34" charset="-122"/>
                <a:cs typeface="Public Sans" pitchFamily="34" charset="-120"/>
              </a:rPr>
              <a:t> when the model is not sure</a:t>
            </a:r>
            <a:endParaRPr lang="en-US" sz="1200" dirty="0"/>
          </a:p>
        </p:txBody>
      </p:sp>
      <p:sp>
        <p:nvSpPr>
          <p:cNvPr id="13" name="Shape 7"/>
          <p:cNvSpPr/>
          <p:nvPr/>
        </p:nvSpPr>
        <p:spPr>
          <a:xfrm>
            <a:off x="815975" y="2893417"/>
            <a:ext cx="3876377" cy="2393156"/>
          </a:xfrm>
          <a:prstGeom prst="roundRect">
            <a:avLst>
              <a:gd name="adj" fmla="val 4113"/>
            </a:avLst>
          </a:prstGeom>
          <a:solidFill>
            <a:srgbClr val="FFFDF9"/>
          </a:solidFill>
          <a:ln w="6350">
            <a:solidFill>
              <a:srgbClr val="DCE3E0"/>
            </a:solidFill>
            <a:prstDash val="solid"/>
          </a:ln>
        </p:spPr>
      </p:sp>
      <p:pic>
        <p:nvPicPr>
          <p:cNvPr id="14" name="Image 4" descr="Warning">    </p:cNvPr>
          <p:cNvPicPr>
            <a:picLocks noChangeAspect="1"/>
          </p:cNvPicPr>
          <p:nvPr/>
        </p:nvPicPr>
        <p:blipFill>
          <a:blip r:embed="rId5"/>
          <a:srcRect l="0" r="0" t="0" b="0"/>
          <a:stretch/>
        </p:blipFill>
        <p:spPr>
          <a:xfrm>
            <a:off x="1022350" y="3099792"/>
            <a:ext cx="228600" cy="228600"/>
          </a:xfrm>
          <a:prstGeom prst="rect">
            <a:avLst/>
          </a:prstGeom>
        </p:spPr>
      </p:pic>
      <p:sp>
        <p:nvSpPr>
          <p:cNvPr id="15" name="Text 8"/>
          <p:cNvSpPr/>
          <p:nvPr/>
        </p:nvSpPr>
        <p:spPr>
          <a:xfrm>
            <a:off x="1327150" y="3099792"/>
            <a:ext cx="22921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Uncertainty alert if…</a:t>
            </a:r>
            <a:endParaRPr lang="en-US" sz="1500" dirty="0"/>
          </a:p>
        </p:txBody>
      </p:sp>
      <p:sp>
        <p:nvSpPr>
          <p:cNvPr id="16" name="Text 9"/>
          <p:cNvSpPr/>
          <p:nvPr/>
        </p:nvSpPr>
        <p:spPr>
          <a:xfrm>
            <a:off x="1022350" y="3417292"/>
            <a:ext cx="35675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 top confidence is below </a:t>
            </a:r>
            <a:r>
              <a:rPr lang="en-US" sz="1200" b="1" dirty="0">
                <a:solidFill>
                  <a:srgbClr val="3F5157"/>
                </a:solidFill>
                <a:latin typeface="Public Sans" pitchFamily="34" charset="0"/>
                <a:ea typeface="Public Sans" pitchFamily="34" charset="-122"/>
                <a:cs typeface="Public Sans" pitchFamily="34" charset="-120"/>
              </a:rPr>
              <a:t>65%</a:t>
            </a:r>
            <a:endParaRPr lang="en-US" sz="1200" dirty="0"/>
          </a:p>
        </p:txBody>
      </p:sp>
      <p:sp>
        <p:nvSpPr>
          <p:cNvPr id="17" name="Text 10"/>
          <p:cNvSpPr/>
          <p:nvPr/>
        </p:nvSpPr>
        <p:spPr>
          <a:xfrm>
            <a:off x="1022350" y="3711873"/>
            <a:ext cx="35675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 Shannon entropy is </a:t>
            </a:r>
            <a:r>
              <a:rPr lang="en-US" sz="1200" b="1" dirty="0">
                <a:solidFill>
                  <a:srgbClr val="3F5157"/>
                </a:solidFill>
                <a:latin typeface="Public Sans" pitchFamily="34" charset="0"/>
                <a:ea typeface="Public Sans" pitchFamily="34" charset="-122"/>
                <a:cs typeface="Public Sans" pitchFamily="34" charset="-120"/>
              </a:rPr>
              <a:t>55%</a:t>
            </a:r>
            <a:r>
              <a:rPr lang="en-US" sz="1200" dirty="0">
                <a:solidFill>
                  <a:srgbClr val="3F5157"/>
                </a:solidFill>
                <a:latin typeface="Public Sans" pitchFamily="34" charset="0"/>
                <a:ea typeface="Public Sans" pitchFamily="34" charset="-122"/>
                <a:cs typeface="Public Sans" pitchFamily="34" charset="-120"/>
              </a:rPr>
              <a:t> or more</a:t>
            </a:r>
            <a:endParaRPr lang="en-US" sz="1200" dirty="0"/>
          </a:p>
        </p:txBody>
      </p:sp>
      <p:sp>
        <p:nvSpPr>
          <p:cNvPr id="18" name="Text 11"/>
          <p:cNvSpPr/>
          <p:nvPr/>
        </p:nvSpPr>
        <p:spPr>
          <a:xfrm>
            <a:off x="1022350" y="4006453"/>
            <a:ext cx="356753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 high-risk probability is </a:t>
            </a:r>
            <a:r>
              <a:rPr lang="en-US" sz="1200" b="1" dirty="0">
                <a:solidFill>
                  <a:srgbClr val="3F5157"/>
                </a:solidFill>
                <a:latin typeface="Public Sans" pitchFamily="34" charset="0"/>
                <a:ea typeface="Public Sans" pitchFamily="34" charset="-122"/>
                <a:cs typeface="Public Sans" pitchFamily="34" charset="-120"/>
              </a:rPr>
              <a:t>25%</a:t>
            </a:r>
            <a:r>
              <a:rPr lang="en-US" sz="1200" dirty="0">
                <a:solidFill>
                  <a:srgbClr val="3F5157"/>
                </a:solidFill>
                <a:latin typeface="Public Sans" pitchFamily="34" charset="0"/>
                <a:ea typeface="Public Sans" pitchFamily="34" charset="-122"/>
                <a:cs typeface="Public Sans" pitchFamily="34" charset="-120"/>
              </a:rPr>
              <a:t> or more in a lower result</a:t>
            </a:r>
            <a:endParaRPr lang="en-US" sz="1200" dirty="0"/>
          </a:p>
        </p:txBody>
      </p:sp>
      <p:sp>
        <p:nvSpPr>
          <p:cNvPr id="19" name="Shape 12"/>
          <p:cNvSpPr/>
          <p:nvPr/>
        </p:nvSpPr>
        <p:spPr>
          <a:xfrm>
            <a:off x="4901902" y="2893417"/>
            <a:ext cx="6474123" cy="2393156"/>
          </a:xfrm>
          <a:prstGeom prst="roundRect">
            <a:avLst>
              <a:gd name="adj" fmla="val 4113"/>
            </a:avLst>
          </a:prstGeom>
          <a:solidFill>
            <a:srgbClr val="FFFDF9"/>
          </a:solidFill>
          <a:ln w="6350">
            <a:solidFill>
              <a:srgbClr val="DCE3E0"/>
            </a:solidFill>
            <a:prstDash val="solid"/>
          </a:ln>
        </p:spPr>
      </p:sp>
      <p:sp>
        <p:nvSpPr>
          <p:cNvPr id="20" name="Text 13"/>
          <p:cNvSpPr/>
          <p:nvPr/>
        </p:nvSpPr>
        <p:spPr>
          <a:xfrm>
            <a:off x="5108277" y="3099792"/>
            <a:ext cx="62432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Four test cases</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120977" y="3417292"/>
          <a:ext cx="6048673" cy="1662906"/>
        </p:xfrm>
        <a:graphic>
          <a:graphicData uri="http://schemas.openxmlformats.org/drawingml/2006/table">
            <a:tbl>
              <a:tblPr/>
              <a:tblGrid>
                <a:gridCol w="1330708"/>
                <a:gridCol w="2298496"/>
                <a:gridCol w="2419469"/>
              </a:tblGrid>
              <a:tr h="332581">
                <a:tc>
                  <a:txBody>
                    <a:bodyPr/>
                    <a:lstStyle/>
                    <a:p>
                      <a:pPr indent="0" marL="0">
                        <a:lnSpc>
                          <a:spcPts val="1680"/>
                        </a:lnSpc>
                        <a:buNone/>
                      </a:pPr>
                      <a:r>
                        <a:rPr lang="en-US" sz="1200" b="1" dirty="0">
                          <a:solidFill>
                            <a:srgbClr val="3F5157"/>
                          </a:solidFill>
                          <a:latin typeface="Public Sans" pitchFamily="34" charset="0"/>
                          <a:ea typeface="Public Sans" pitchFamily="34" charset="-122"/>
                          <a:cs typeface="Public Sans" pitchFamily="34" charset="-120"/>
                        </a:rPr>
                        <a:t>Case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indent="0" marL="0">
                        <a:lnSpc>
                          <a:spcPts val="1680"/>
                        </a:lnSpc>
                        <a:buNone/>
                      </a:pPr>
                      <a:r>
                        <a:rPr lang="en-US" sz="1200" b="1" dirty="0">
                          <a:solidFill>
                            <a:srgbClr val="3F5157"/>
                          </a:solidFill>
                          <a:latin typeface="Public Sans" pitchFamily="34" charset="0"/>
                          <a:ea typeface="Public Sans" pitchFamily="34" charset="-122"/>
                          <a:cs typeface="Public Sans" pitchFamily="34" charset="-120"/>
                        </a:rPr>
                        <a:t>Age, BP, sugar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indent="0" marL="0">
                        <a:lnSpc>
                          <a:spcPts val="1680"/>
                        </a:lnSpc>
                        <a:buNone/>
                      </a:pPr>
                      <a:r>
                        <a:rPr lang="en-US" sz="1200" b="1" dirty="0">
                          <a:solidFill>
                            <a:srgbClr val="3F5157"/>
                          </a:solidFill>
                          <a:latin typeface="Public Sans" pitchFamily="34" charset="0"/>
                          <a:ea typeface="Public Sans" pitchFamily="34" charset="-122"/>
                          <a:cs typeface="Public Sans" pitchFamily="34" charset="-120"/>
                        </a:rPr>
                        <a:t>Output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1. Normal</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22 y, 100/65, 7.8</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Low risk · 86% sure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2. Critical</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25 y, 140/100, 11.5</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High risk · 99% sure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3. Borderline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35 y, 120/80, 6.9</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Alert: 37% / 19% / 44%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4. Invalid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80/120, heart rate 7</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3F5157"/>
                          </a:solidFill>
                          <a:latin typeface="Public Sans" pitchFamily="34" charset="0"/>
                          <a:ea typeface="Public Sans" pitchFamily="34" charset="-122"/>
                          <a:cs typeface="Public Sans" pitchFamily="34" charset="-120"/>
                        </a:rPr>
                        <a:t>Blocked: no prediction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22" name="Text 14"/>
          <p:cNvSpPr/>
          <p:nvPr/>
        </p:nvSpPr>
        <p:spPr>
          <a:xfrm>
            <a:off x="812800" y="6238280"/>
            <a:ext cx="81756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3 tabs: live triage · model comparison · fuzzy simulator · demo next</a:t>
            </a:r>
            <a:endParaRPr lang="en-US" sz="1200" dirty="0"/>
          </a:p>
        </p:txBody>
      </p:sp>
      <p:sp>
        <p:nvSpPr>
          <p:cNvPr id="23" name="Text 15"/>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Said · 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8C"/>
                </a:solidFill>
                <a:latin typeface="Public Sans" pitchFamily="34" charset="0"/>
                <a:ea typeface="Public Sans" pitchFamily="34" charset="-122"/>
                <a:cs typeface="Public Sans" pitchFamily="34" charset="-120"/>
              </a:rPr>
              <a:t>MEMBER 3 · SAID · PHASE V</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23A"/>
                </a:solidFill>
                <a:latin typeface="Rubik" pitchFamily="34" charset="0"/>
                <a:ea typeface="Rubik" pitchFamily="34" charset="-122"/>
                <a:cs typeface="Rubik" pitchFamily="34" charset="-120"/>
              </a:rPr>
              <a:t>Errors, ethics and conclusions</a:t>
            </a:r>
            <a:endParaRPr lang="en-US" sz="3200" dirty="0"/>
          </a:p>
        </p:txBody>
      </p:sp>
      <p:sp>
        <p:nvSpPr>
          <p:cNvPr id="4" name="Shape 2"/>
          <p:cNvSpPr/>
          <p:nvPr/>
        </p:nvSpPr>
        <p:spPr>
          <a:xfrm>
            <a:off x="815975" y="1781076"/>
            <a:ext cx="3397250" cy="1334591"/>
          </a:xfrm>
          <a:prstGeom prst="roundRect">
            <a:avLst>
              <a:gd name="adj" fmla="val 7375"/>
            </a:avLst>
          </a:prstGeom>
          <a:solidFill>
            <a:srgbClr val="FFFDF9"/>
          </a:solidFill>
          <a:ln w="6350">
            <a:solidFill>
              <a:srgbClr val="DCE3E0"/>
            </a:solidFill>
            <a:prstDash val="solid"/>
          </a:ln>
        </p:spPr>
      </p:sp>
      <p:sp>
        <p:nvSpPr>
          <p:cNvPr id="5" name="Text 3"/>
          <p:cNvSpPr/>
          <p:nvPr/>
        </p:nvSpPr>
        <p:spPr>
          <a:xfrm>
            <a:off x="1022350" y="1987451"/>
            <a:ext cx="30740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Errors</a:t>
            </a:r>
            <a:endParaRPr lang="en-US" sz="1500" dirty="0"/>
          </a:p>
        </p:txBody>
      </p:sp>
      <p:sp>
        <p:nvSpPr>
          <p:cNvPr id="6" name="Text 4"/>
          <p:cNvSpPr/>
          <p:nvPr/>
        </p:nvSpPr>
        <p:spPr>
          <a:xfrm>
            <a:off x="1022350" y="2292251"/>
            <a:ext cx="307403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A missed high-risk woman is the worst error: only 2 of 55. A false alarm means one extra check, which is safer.</a:t>
            </a:r>
            <a:endParaRPr lang="en-US" sz="1200" dirty="0"/>
          </a:p>
        </p:txBody>
      </p:sp>
      <p:sp>
        <p:nvSpPr>
          <p:cNvPr id="7" name="Shape 5"/>
          <p:cNvSpPr/>
          <p:nvPr/>
        </p:nvSpPr>
        <p:spPr>
          <a:xfrm>
            <a:off x="4397375" y="1781076"/>
            <a:ext cx="3397250" cy="1334591"/>
          </a:xfrm>
          <a:prstGeom prst="roundRect">
            <a:avLst>
              <a:gd name="adj" fmla="val 7375"/>
            </a:avLst>
          </a:prstGeom>
          <a:solidFill>
            <a:srgbClr val="FFFDF9"/>
          </a:solidFill>
          <a:ln w="6350">
            <a:solidFill>
              <a:srgbClr val="DCE3E0"/>
            </a:solidFill>
            <a:prstDash val="solid"/>
          </a:ln>
        </p:spPr>
      </p:sp>
      <p:sp>
        <p:nvSpPr>
          <p:cNvPr id="8" name="Text 6"/>
          <p:cNvSpPr/>
          <p:nvPr/>
        </p:nvSpPr>
        <p:spPr>
          <a:xfrm>
            <a:off x="4603750" y="1987451"/>
            <a:ext cx="30740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Limits and bias</a:t>
            </a:r>
            <a:endParaRPr lang="en-US" sz="1500" dirty="0"/>
          </a:p>
        </p:txBody>
      </p:sp>
      <p:sp>
        <p:nvSpPr>
          <p:cNvPr id="9" name="Text 7"/>
          <p:cNvSpPr/>
          <p:nvPr/>
        </p:nvSpPr>
        <p:spPr>
          <a:xfrm>
            <a:off x="4603750" y="2292251"/>
            <a:ext cx="307403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Data from rural Bangladesh. No weeks of pregnancy or medical history. It needs local data before real use.</a:t>
            </a:r>
            <a:endParaRPr lang="en-US" sz="1200" dirty="0"/>
          </a:p>
        </p:txBody>
      </p:sp>
      <p:sp>
        <p:nvSpPr>
          <p:cNvPr id="10" name="Shape 8"/>
          <p:cNvSpPr/>
          <p:nvPr/>
        </p:nvSpPr>
        <p:spPr>
          <a:xfrm>
            <a:off x="7978775" y="1781076"/>
            <a:ext cx="3397250" cy="1334591"/>
          </a:xfrm>
          <a:prstGeom prst="roundRect">
            <a:avLst>
              <a:gd name="adj" fmla="val 7375"/>
            </a:avLst>
          </a:prstGeom>
          <a:solidFill>
            <a:srgbClr val="FFFDF9"/>
          </a:solidFill>
          <a:ln w="6350">
            <a:solidFill>
              <a:srgbClr val="DCE3E0"/>
            </a:solidFill>
            <a:prstDash val="solid"/>
          </a:ln>
        </p:spPr>
      </p:sp>
      <p:sp>
        <p:nvSpPr>
          <p:cNvPr id="11" name="Text 9"/>
          <p:cNvSpPr/>
          <p:nvPr/>
        </p:nvSpPr>
        <p:spPr>
          <a:xfrm>
            <a:off x="8185150" y="1987451"/>
            <a:ext cx="30740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323A"/>
                </a:solidFill>
                <a:latin typeface="Rubik" pitchFamily="34" charset="0"/>
                <a:ea typeface="Rubik" pitchFamily="34" charset="-122"/>
                <a:cs typeface="Rubik" pitchFamily="34" charset="-120"/>
              </a:rPr>
              <a:t>Ethics</a:t>
            </a:r>
            <a:endParaRPr lang="en-US" sz="1500" dirty="0"/>
          </a:p>
        </p:txBody>
      </p:sp>
      <p:sp>
        <p:nvSpPr>
          <p:cNvPr id="12" name="Text 10"/>
          <p:cNvSpPr/>
          <p:nvPr/>
        </p:nvSpPr>
        <p:spPr>
          <a:xfrm>
            <a:off x="8185150" y="2292251"/>
            <a:ext cx="307403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5157"/>
                </a:solidFill>
                <a:latin typeface="Public Sans" pitchFamily="34" charset="0"/>
                <a:ea typeface="Public Sans" pitchFamily="34" charset="-122"/>
                <a:cs typeface="Public Sans" pitchFamily="34" charset="-120"/>
              </a:rPr>
              <a:t>Human in the loop: the tool gives a priority, the professional decides. The app always shows this warning.</a:t>
            </a:r>
            <a:endParaRPr lang="en-US" sz="1200" dirty="0"/>
          </a:p>
        </p:txBody>
      </p:sp>
      <p:sp>
        <p:nvSpPr>
          <p:cNvPr id="13" name="Text 11"/>
          <p:cNvSpPr/>
          <p:nvPr/>
        </p:nvSpPr>
        <p:spPr>
          <a:xfrm>
            <a:off x="812800" y="334744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323A"/>
                </a:solidFill>
                <a:latin typeface="Public Sans" pitchFamily="34" charset="0"/>
                <a:ea typeface="Public Sans" pitchFamily="34" charset="-122"/>
                <a:cs typeface="Public Sans" pitchFamily="34" charset="-120"/>
              </a:rPr>
              <a:t>The 3 axes of Computational Intelligence</a:t>
            </a:r>
            <a:endParaRPr lang="en-US" sz="1300" dirty="0"/>
          </a:p>
        </p:txBody>
      </p:sp>
      <p:sp>
        <p:nvSpPr>
          <p:cNvPr id="14" name="Text 12"/>
          <p:cNvSpPr/>
          <p:nvPr/>
        </p:nvSpPr>
        <p:spPr>
          <a:xfrm>
            <a:off x="812800" y="3667423"/>
            <a:ext cx="3437434" cy="665361"/>
          </a:xfrm>
          <a:prstGeom prst="roundRect">
            <a:avLst>
              <a:gd name="adj" fmla="val 11452"/>
            </a:avLst>
          </a:prstGeom>
          <a:solidFill>
            <a:srgbClr val="17323A"/>
          </a:solidFill>
          <a:ln/>
        </p:spPr>
        <p:txBody>
          <a:bodyPr wrap="square" lIns="130082" tIns="104682" rIns="36103"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A · Machine learning:</a:t>
            </a:r>
            <a:r>
              <a:rPr lang="en-US" sz="1200" dirty="0">
                <a:solidFill>
                  <a:srgbClr val="F2EFE8"/>
                </a:solidFill>
                <a:latin typeface="Public Sans" pitchFamily="34" charset="0"/>
                <a:ea typeface="Public Sans" pitchFamily="34" charset="-122"/>
                <a:cs typeface="Public Sans" pitchFamily="34" charset="-120"/>
              </a:rPr>
              <a:t> Random Forest is the best model (F1 0.85 on test).</a:t>
            </a:r>
            <a:endParaRPr lang="en-US" sz="1200" dirty="0"/>
          </a:p>
        </p:txBody>
      </p:sp>
      <p:sp>
        <p:nvSpPr>
          <p:cNvPr id="15" name="Text 13"/>
          <p:cNvSpPr/>
          <p:nvPr/>
        </p:nvSpPr>
        <p:spPr>
          <a:xfrm>
            <a:off x="4377234" y="3667423"/>
            <a:ext cx="3437533" cy="665361"/>
          </a:xfrm>
          <a:prstGeom prst="roundRect">
            <a:avLst>
              <a:gd name="adj" fmla="val 11452"/>
            </a:avLst>
          </a:prstGeom>
          <a:solidFill>
            <a:srgbClr val="17323A"/>
          </a:solidFill>
          <a:ln/>
        </p:spPr>
        <p:txBody>
          <a:bodyPr wrap="square" lIns="130082" tIns="104682" rIns="36100"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B · Genetic algorithm:</a:t>
            </a:r>
            <a:r>
              <a:rPr lang="en-US" sz="1200" dirty="0">
                <a:solidFill>
                  <a:srgbClr val="F2EFE8"/>
                </a:solidFill>
                <a:latin typeface="Public Sans" pitchFamily="34" charset="0"/>
                <a:ea typeface="Public Sans" pitchFamily="34" charset="-122"/>
                <a:cs typeface="Public Sans" pitchFamily="34" charset="-120"/>
              </a:rPr>
              <a:t> a fair test gave a tie, and we report it honestly.</a:t>
            </a:r>
            <a:endParaRPr lang="en-US" sz="1200" dirty="0"/>
          </a:p>
        </p:txBody>
      </p:sp>
      <p:sp>
        <p:nvSpPr>
          <p:cNvPr id="16" name="Text 14"/>
          <p:cNvSpPr/>
          <p:nvPr/>
        </p:nvSpPr>
        <p:spPr>
          <a:xfrm>
            <a:off x="7941766" y="3667423"/>
            <a:ext cx="3437434" cy="665361"/>
          </a:xfrm>
          <a:prstGeom prst="roundRect">
            <a:avLst>
              <a:gd name="adj" fmla="val 11452"/>
            </a:avLst>
          </a:prstGeom>
          <a:solidFill>
            <a:srgbClr val="17323A"/>
          </a:solidFill>
          <a:ln/>
        </p:spPr>
        <p:txBody>
          <a:bodyPr wrap="square" lIns="130082" tIns="104682" rIns="36103" bIns="79282" rtlCol="0" anchor="t">
            <a:normAutofit/>
          </a:bodyPr>
          <a:lstStyle/>
          <a:p>
            <a:pPr algn="l" indent="0" marL="0">
              <a:lnSpc>
                <a:spcPts val="1620"/>
              </a:lnSpc>
              <a:buNone/>
            </a:pPr>
            <a:r>
              <a:rPr lang="en-US" sz="1200" b="1" dirty="0">
                <a:solidFill>
                  <a:srgbClr val="F2EFE8"/>
                </a:solidFill>
                <a:latin typeface="Public Sans" pitchFamily="34" charset="0"/>
                <a:ea typeface="Public Sans" pitchFamily="34" charset="-122"/>
                <a:cs typeface="Public Sans" pitchFamily="34" charset="-120"/>
              </a:rPr>
              <a:t>C · Fuzzy logic and entropy:</a:t>
            </a:r>
            <a:r>
              <a:rPr lang="en-US" sz="1200" dirty="0">
                <a:solidFill>
                  <a:srgbClr val="F2EFE8"/>
                </a:solidFill>
                <a:latin typeface="Public Sans" pitchFamily="34" charset="0"/>
                <a:ea typeface="Public Sans" pitchFamily="34" charset="-122"/>
                <a:cs typeface="Public Sans" pitchFamily="34" charset="-120"/>
              </a:rPr>
              <a:t> the system shows when it is not sure.</a:t>
            </a:r>
            <a:endParaRPr lang="en-US" sz="1200" dirty="0"/>
          </a:p>
        </p:txBody>
      </p:sp>
      <p:sp>
        <p:nvSpPr>
          <p:cNvPr id="17" name="Text 15"/>
          <p:cNvSpPr/>
          <p:nvPr/>
        </p:nvSpPr>
        <p:spPr>
          <a:xfrm>
            <a:off x="812800" y="4561384"/>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7A8C"/>
                </a:solidFill>
                <a:latin typeface="Rubik" pitchFamily="34" charset="0"/>
                <a:ea typeface="Rubik" pitchFamily="34" charset="-122"/>
                <a:cs typeface="Rubik" pitchFamily="34" charset="-120"/>
              </a:rPr>
              <a:t>Thank you! Questions?</a:t>
            </a:r>
            <a:endParaRPr lang="en-US" sz="2200" dirty="0"/>
          </a:p>
        </p:txBody>
      </p:sp>
      <p:sp>
        <p:nvSpPr>
          <p:cNvPr id="18" name="Text 1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Repository: github.com/SaidJuniorProgrammer/ic-riesgo-materno-salud</a:t>
            </a:r>
            <a:endParaRPr lang="en-US" sz="1200" dirty="0"/>
          </a:p>
        </p:txBody>
      </p:sp>
      <p:sp>
        <p:nvSpPr>
          <p:cNvPr id="19" name="Text 17"/>
          <p:cNvSpPr/>
          <p:nvPr/>
        </p:nvSpPr>
        <p:spPr>
          <a:xfrm>
            <a:off x="8108950" y="623828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0"/>
                </a:solidFill>
                <a:latin typeface="Public Sans" pitchFamily="34" charset="0"/>
                <a:ea typeface="Public Sans" pitchFamily="34" charset="-122"/>
                <a:cs typeface="Public Sans" pitchFamily="34" charset="-120"/>
              </a:rPr>
              <a:t>Said · 10 / 10</a:t>
            </a:r>
            <a:endParaRPr lang="en-US" sz="1200" dirty="0"/>
          </a:p>
        </p:txBody>
      </p:sp>
    </p:spTree>
  </p:cSld>
  <p:clrMapOvr>
    <a:masterClrMapping/>
  </p:clrMapOvr>
</p:sld>
</file>

<file path=ppt/theme/theme1.xml><?xml version="1.0" encoding="utf-8"?>
<a:theme xmlns:a="http://schemas.openxmlformats.org/drawingml/2006/main" name="Maternal Health Risk Triage">
  <a:themeElements>
    <a:clrScheme name="Maternal Health Risk Triage">
      <a:dk1>
        <a:srgbClr val="17323A"/>
      </a:dk1>
      <a:lt1>
        <a:srgbClr val="F7F5F0"/>
      </a:lt1>
      <a:dk2>
        <a:srgbClr val="4F6368"/>
      </a:dk2>
      <a:lt2>
        <a:srgbClr val="E1E2DE"/>
      </a:lt2>
      <a:accent1>
        <a:srgbClr val="1F7A8C"/>
      </a:accent1>
      <a:accent2>
        <a:srgbClr val="E9B44C"/>
      </a:accent2>
      <a:accent3>
        <a:srgbClr val="B5462A"/>
      </a:accent3>
      <a:accent4>
        <a:srgbClr val="3D7EAA"/>
      </a:accent4>
      <a:accent5>
        <a:srgbClr val="9A6A12"/>
      </a:accent5>
      <a:accent6>
        <a:srgbClr val="3F5157"/>
      </a:accent6>
      <a:hlink>
        <a:srgbClr val="0563C1"/>
      </a:hlink>
      <a:folHlink>
        <a:srgbClr val="954F72"/>
      </a:folHlink>
    </a:clrScheme>
    <a:fontScheme name="Maternal Health Risk Triag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Maternal Health Risk Triage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2026-10-30T04:08:44Z</dcterms:created>
  <dcterms:modified xsi:type="dcterms:W3CDTF">2026-10-30T04:08:44Z</dcterms:modified>
</cp:coreProperties>
</file>